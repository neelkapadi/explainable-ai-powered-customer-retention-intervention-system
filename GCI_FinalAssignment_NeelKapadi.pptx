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2" r:id="rId2"/>
    <p:sldId id="277" r:id="rId3"/>
    <p:sldId id="263" r:id="rId4"/>
    <p:sldId id="264" r:id="rId5"/>
    <p:sldId id="265" r:id="rId6"/>
    <p:sldId id="266" r:id="rId7"/>
    <p:sldId id="256" r:id="rId8"/>
    <p:sldId id="268" r:id="rId9"/>
    <p:sldId id="271" r:id="rId10"/>
    <p:sldId id="272" r:id="rId11"/>
    <p:sldId id="273" r:id="rId12"/>
    <p:sldId id="276" r:id="rId13"/>
    <p:sldId id="274" r:id="rId14"/>
    <p:sldId id="275" r:id="rId15"/>
    <p:sldId id="25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6A2C7FD-8B47-4796-9D28-F978F196A0DB}">
          <p14:sldIdLst>
            <p14:sldId id="262"/>
            <p14:sldId id="277"/>
            <p14:sldId id="263"/>
            <p14:sldId id="264"/>
            <p14:sldId id="265"/>
            <p14:sldId id="266"/>
            <p14:sldId id="256"/>
            <p14:sldId id="268"/>
            <p14:sldId id="271"/>
            <p14:sldId id="272"/>
            <p14:sldId id="273"/>
            <p14:sldId id="276"/>
            <p14:sldId id="274"/>
            <p14:sldId id="275"/>
            <p14:sldId id="258"/>
          </p14:sldIdLst>
        </p14:section>
        <p14:section name="Untitled Section" id="{F36DC0D8-3F93-49C9-A3EF-638A5030BCE7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9008"/>
    <a:srgbClr val="1832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406" autoAdjust="0"/>
    <p:restoredTop sz="95033" autoAdjust="0"/>
  </p:normalViewPr>
  <p:slideViewPr>
    <p:cSldViewPr snapToGrid="0">
      <p:cViewPr varScale="1">
        <p:scale>
          <a:sx n="79" d="100"/>
          <a:sy n="79" d="100"/>
        </p:scale>
        <p:origin x="38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Churn 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alpha val="90000"/>
                </a:schemeClr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  <a:effectLst>
                <a:innerShdw blurRad="114300">
                  <a:schemeClr val="accent1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1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B5D6-47FB-9BD9-464F391F597B}"/>
              </c:ext>
            </c:extLst>
          </c:dPt>
          <c:dPt>
            <c:idx val="1"/>
            <c:bubble3D val="0"/>
            <c:spPr>
              <a:solidFill>
                <a:schemeClr val="accent2">
                  <a:alpha val="90000"/>
                </a:schemeClr>
              </a:solidFill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innerShdw blurRad="114300">
                  <a:schemeClr val="accent2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2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2-B5D6-47FB-9BD9-464F391F597B}"/>
              </c:ext>
            </c:extLst>
          </c:dPt>
          <c:dLbls>
            <c:dLbl>
              <c:idx val="0"/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1"/>
                  </a:solidFill>
                  <a:round/>
                </a:ln>
                <a:effectLst>
                  <a:outerShdw blurRad="50800" dist="38100" dir="2700000" algn="tl" rotWithShape="0">
                    <a:schemeClr val="accent1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0" i="0" u="none" strike="noStrike" kern="1200" baseline="0">
                      <a:solidFill>
                        <a:schemeClr val="accent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B5D6-47FB-9BD9-464F391F597B}"/>
                </c:ext>
              </c:extLst>
            </c:dLbl>
            <c:dLbl>
              <c:idx val="1"/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2"/>
                  </a:solidFill>
                  <a:round/>
                </a:ln>
                <a:effectLst>
                  <a:outerShdw blurRad="50800" dist="38100" dir="2700000" algn="tl" rotWithShape="0">
                    <a:schemeClr val="accent2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0" i="0" u="none" strike="noStrike" kern="1200" baseline="0">
                      <a:solidFill>
                        <a:schemeClr val="accent2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B5D6-47FB-9BD9-464F391F597B}"/>
                </c:ext>
              </c:extLst>
            </c:dLbl>
            <c:spPr>
              <a:solidFill>
                <a:prstClr val="white">
                  <a:alpha val="90000"/>
                </a:prstClr>
              </a:solidFill>
              <a:ln w="12700" cap="flat" cmpd="sng" algn="ctr">
                <a:solidFill>
                  <a:srgbClr val="156082"/>
                </a:solidFill>
                <a:round/>
              </a:ln>
              <a:effectLst>
                <a:outerShdw blurRad="50800" dist="38100" dir="2700000" algn="tl" rotWithShape="0">
                  <a:srgbClr val="156082">
                    <a:lumMod val="75000"/>
                    <a:alpha val="40000"/>
                  </a:srgbClr>
                </a:outerShdw>
              </a:effectLst>
            </c:sp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Churn</c:v>
                </c:pt>
                <c:pt idx="1">
                  <c:v>Not Churn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49.5</c:v>
                </c:pt>
                <c:pt idx="1">
                  <c:v>50.5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D6-47FB-9BD9-464F391F597B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3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330" b="0" i="0" u="none" strike="noStrike" kern="1200" baseline="0">
      <a:effectLst/>
    </cs:defRPr>
    <cs:bodyPr rot="0" spcFirstLastPara="1" vertOverflow="clip" horzOverflow="clip" vert="horz" wrap="square" lIns="38100" tIns="19050" rIns="38100" bIns="19050" anchor="ctr" anchorCtr="1">
      <a:spAutoFit/>
    </cs:bodyPr>
  </cs:dataLabel>
  <cs:dataLabelCallout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330" b="0" i="0" u="none" strike="noStrike" kern="1200" baseline="0">
      <a:effectLst/>
    </cs:defRPr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tx1"/>
    </cs:fontRef>
    <cs:spPr>
      <a:solidFill>
        <a:schemeClr val="phClr">
          <a:alpha val="90000"/>
        </a:schemeClr>
      </a:solidFill>
      <a:ln w="19050">
        <a:solidFill>
          <a:schemeClr val="phClr">
            <a:lumMod val="75000"/>
          </a:schemeClr>
        </a:solidFill>
      </a:ln>
      <a:effectLst>
        <a:innerShdw blurRad="114300">
          <a:schemeClr val="phClr">
            <a:lumMod val="75000"/>
          </a:schemeClr>
        </a:innerShdw>
      </a:effectLst>
      <a:scene3d>
        <a:camera prst="orthographicFront"/>
        <a:lightRig rig="threePt" dir="t"/>
      </a:scene3d>
      <a:sp3d contourW="19050" prstMaterial="flat">
        <a:contourClr>
          <a:schemeClr val="accent4">
            <a:lumMod val="75000"/>
          </a:schemeClr>
        </a:contourClr>
      </a:sp3d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9F90BF-D969-46C3-A3FC-277A4FB82DAF}" type="doc">
      <dgm:prSet loTypeId="urn:microsoft.com/office/officeart/2005/8/layout/cycle4" loCatId="cycle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7874479-BD54-419A-AE0D-810F9E6D8AFF}">
      <dgm:prSet phldrT="[Text]" phldr="0"/>
      <dgm:spPr/>
      <dgm:t>
        <a:bodyPr/>
        <a:lstStyle/>
        <a:p>
          <a:r>
            <a:rPr lang="en-IN" dirty="0"/>
            <a:t>Plan</a:t>
          </a:r>
        </a:p>
      </dgm:t>
    </dgm:pt>
    <dgm:pt modelId="{B4CA78FE-F7B4-447F-98D0-FA1BE48D089A}" type="parTrans" cxnId="{0AD7FDF4-6CA7-4EA4-A406-10949F8C9DBE}">
      <dgm:prSet/>
      <dgm:spPr/>
      <dgm:t>
        <a:bodyPr/>
        <a:lstStyle/>
        <a:p>
          <a:endParaRPr lang="en-IN"/>
        </a:p>
      </dgm:t>
    </dgm:pt>
    <dgm:pt modelId="{251AE9FA-D3E6-4316-BEF9-C2557F9A9BA1}" type="sibTrans" cxnId="{0AD7FDF4-6CA7-4EA4-A406-10949F8C9DBE}">
      <dgm:prSet/>
      <dgm:spPr/>
      <dgm:t>
        <a:bodyPr/>
        <a:lstStyle/>
        <a:p>
          <a:endParaRPr lang="en-IN"/>
        </a:p>
      </dgm:t>
    </dgm:pt>
    <dgm:pt modelId="{A87852E8-5568-443B-9F0E-5554810A8138}">
      <dgm:prSet phldrT="[Text]" phldr="0"/>
      <dgm:spPr/>
      <dgm:t>
        <a:bodyPr/>
        <a:lstStyle/>
        <a:p>
          <a:r>
            <a:rPr lang="en-IN" dirty="0"/>
            <a:t>Do</a:t>
          </a:r>
        </a:p>
      </dgm:t>
    </dgm:pt>
    <dgm:pt modelId="{DFA92795-BD1B-4D59-B896-FF375930385A}" type="parTrans" cxnId="{BBA6D5F7-9F8C-4C96-82D0-58A9AA43777B}">
      <dgm:prSet/>
      <dgm:spPr/>
      <dgm:t>
        <a:bodyPr/>
        <a:lstStyle/>
        <a:p>
          <a:endParaRPr lang="en-IN"/>
        </a:p>
      </dgm:t>
    </dgm:pt>
    <dgm:pt modelId="{36480569-195A-48E6-8659-C6AE4A6E42A1}" type="sibTrans" cxnId="{BBA6D5F7-9F8C-4C96-82D0-58A9AA43777B}">
      <dgm:prSet/>
      <dgm:spPr/>
      <dgm:t>
        <a:bodyPr/>
        <a:lstStyle/>
        <a:p>
          <a:endParaRPr lang="en-IN"/>
        </a:p>
      </dgm:t>
    </dgm:pt>
    <dgm:pt modelId="{BFAFD216-B983-4785-8548-2D91A344074E}">
      <dgm:prSet phldrT="[Text]" phldr="0"/>
      <dgm:spPr/>
      <dgm:t>
        <a:bodyPr/>
        <a:lstStyle/>
        <a:p>
          <a:r>
            <a:rPr lang="en-IN" dirty="0"/>
            <a:t>Check</a:t>
          </a:r>
        </a:p>
      </dgm:t>
    </dgm:pt>
    <dgm:pt modelId="{F390FAC8-D100-48E5-B596-1054BDD1CE05}" type="parTrans" cxnId="{59BE451F-2D30-4D2D-BEA6-E45FB68C001B}">
      <dgm:prSet/>
      <dgm:spPr/>
      <dgm:t>
        <a:bodyPr/>
        <a:lstStyle/>
        <a:p>
          <a:endParaRPr lang="en-IN"/>
        </a:p>
      </dgm:t>
    </dgm:pt>
    <dgm:pt modelId="{65029D55-576D-45D5-884A-660F79965B37}" type="sibTrans" cxnId="{59BE451F-2D30-4D2D-BEA6-E45FB68C001B}">
      <dgm:prSet/>
      <dgm:spPr/>
      <dgm:t>
        <a:bodyPr/>
        <a:lstStyle/>
        <a:p>
          <a:endParaRPr lang="en-IN"/>
        </a:p>
      </dgm:t>
    </dgm:pt>
    <dgm:pt modelId="{0BB839E3-609A-4BBD-B62E-8BF04EA65D4A}">
      <dgm:prSet phldrT="[Text]" phldr="0"/>
      <dgm:spPr/>
      <dgm:t>
        <a:bodyPr/>
        <a:lstStyle/>
        <a:p>
          <a:r>
            <a:rPr lang="en-IN" dirty="0"/>
            <a:t>Act</a:t>
          </a:r>
        </a:p>
      </dgm:t>
    </dgm:pt>
    <dgm:pt modelId="{1CE25BA4-7540-4459-A9C1-83AAC0D432E7}" type="parTrans" cxnId="{BEE1FECD-2579-45DD-BF7D-01A216A22793}">
      <dgm:prSet/>
      <dgm:spPr/>
      <dgm:t>
        <a:bodyPr/>
        <a:lstStyle/>
        <a:p>
          <a:endParaRPr lang="en-IN"/>
        </a:p>
      </dgm:t>
    </dgm:pt>
    <dgm:pt modelId="{03C84649-7A67-4CAB-AE95-C9E884EAC3EE}" type="sibTrans" cxnId="{BEE1FECD-2579-45DD-BF7D-01A216A22793}">
      <dgm:prSet/>
      <dgm:spPr/>
      <dgm:t>
        <a:bodyPr/>
        <a:lstStyle/>
        <a:p>
          <a:endParaRPr lang="en-IN"/>
        </a:p>
      </dgm:t>
    </dgm:pt>
    <dgm:pt modelId="{E0EE678C-55EE-4F3A-87A9-AC73048558C8}" type="pres">
      <dgm:prSet presAssocID="{6D9F90BF-D969-46C3-A3FC-277A4FB82DAF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66A69DA3-BA6E-4913-AF08-F207A0B7AF1A}" type="pres">
      <dgm:prSet presAssocID="{6D9F90BF-D969-46C3-A3FC-277A4FB82DAF}" presName="children" presStyleCnt="0"/>
      <dgm:spPr/>
    </dgm:pt>
    <dgm:pt modelId="{9FAC98C4-B403-4482-BE41-3623963CEBC8}" type="pres">
      <dgm:prSet presAssocID="{6D9F90BF-D969-46C3-A3FC-277A4FB82DAF}" presName="childPlaceholder" presStyleCnt="0"/>
      <dgm:spPr/>
    </dgm:pt>
    <dgm:pt modelId="{4793BFC2-49AC-49E7-9E53-42599B391435}" type="pres">
      <dgm:prSet presAssocID="{6D9F90BF-D969-46C3-A3FC-277A4FB82DAF}" presName="circle" presStyleCnt="0"/>
      <dgm:spPr/>
    </dgm:pt>
    <dgm:pt modelId="{1645BE8C-BD6D-489A-886F-7E7DB9859618}" type="pres">
      <dgm:prSet presAssocID="{6D9F90BF-D969-46C3-A3FC-277A4FB82DAF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568B7DB0-EC76-4DC5-B398-1DA14A4B14C4}" type="pres">
      <dgm:prSet presAssocID="{6D9F90BF-D969-46C3-A3FC-277A4FB82DAF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3B7229A2-5753-4AD8-BDCC-456630AFA071}" type="pres">
      <dgm:prSet presAssocID="{6D9F90BF-D969-46C3-A3FC-277A4FB82DAF}" presName="quadrant3" presStyleLbl="node1" presStyleIdx="2" presStyleCnt="4" custLinFactNeighborX="343" custLinFactNeighborY="625">
        <dgm:presLayoutVars>
          <dgm:chMax val="1"/>
          <dgm:bulletEnabled val="1"/>
        </dgm:presLayoutVars>
      </dgm:prSet>
      <dgm:spPr/>
    </dgm:pt>
    <dgm:pt modelId="{EB25FF19-C3F6-49CD-B04F-E68327FAD0F9}" type="pres">
      <dgm:prSet presAssocID="{6D9F90BF-D969-46C3-A3FC-277A4FB82DAF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6F2689CB-8B9A-4175-BF49-FD654712B082}" type="pres">
      <dgm:prSet presAssocID="{6D9F90BF-D969-46C3-A3FC-277A4FB82DAF}" presName="quadrantPlaceholder" presStyleCnt="0"/>
      <dgm:spPr/>
    </dgm:pt>
    <dgm:pt modelId="{5894FD81-6102-4C58-BB96-07DCF80899A8}" type="pres">
      <dgm:prSet presAssocID="{6D9F90BF-D969-46C3-A3FC-277A4FB82DAF}" presName="center1" presStyleLbl="fgShp" presStyleIdx="0" presStyleCnt="2"/>
      <dgm:spPr/>
    </dgm:pt>
    <dgm:pt modelId="{45F9156A-8C5A-47AB-8ABA-5B7DF759EB8F}" type="pres">
      <dgm:prSet presAssocID="{6D9F90BF-D969-46C3-A3FC-277A4FB82DAF}" presName="center2" presStyleLbl="fgShp" presStyleIdx="1" presStyleCnt="2"/>
      <dgm:spPr/>
    </dgm:pt>
  </dgm:ptLst>
  <dgm:cxnLst>
    <dgm:cxn modelId="{59BE451F-2D30-4D2D-BEA6-E45FB68C001B}" srcId="{6D9F90BF-D969-46C3-A3FC-277A4FB82DAF}" destId="{BFAFD216-B983-4785-8548-2D91A344074E}" srcOrd="2" destOrd="0" parTransId="{F390FAC8-D100-48E5-B596-1054BDD1CE05}" sibTransId="{65029D55-576D-45D5-884A-660F79965B37}"/>
    <dgm:cxn modelId="{22874628-290F-4A8F-99B9-0299D50627BC}" type="presOf" srcId="{87874479-BD54-419A-AE0D-810F9E6D8AFF}" destId="{1645BE8C-BD6D-489A-886F-7E7DB9859618}" srcOrd="0" destOrd="0" presId="urn:microsoft.com/office/officeart/2005/8/layout/cycle4"/>
    <dgm:cxn modelId="{CFF6A344-52BC-4FF1-8DE8-9460182F58C5}" type="presOf" srcId="{A87852E8-5568-443B-9F0E-5554810A8138}" destId="{568B7DB0-EC76-4DC5-B398-1DA14A4B14C4}" srcOrd="0" destOrd="0" presId="urn:microsoft.com/office/officeart/2005/8/layout/cycle4"/>
    <dgm:cxn modelId="{2679C173-D6A5-404B-8436-29D1C5A60177}" type="presOf" srcId="{6D9F90BF-D969-46C3-A3FC-277A4FB82DAF}" destId="{E0EE678C-55EE-4F3A-87A9-AC73048558C8}" srcOrd="0" destOrd="0" presId="urn:microsoft.com/office/officeart/2005/8/layout/cycle4"/>
    <dgm:cxn modelId="{0358A496-763F-4583-A933-5899AB1B82AA}" type="presOf" srcId="{0BB839E3-609A-4BBD-B62E-8BF04EA65D4A}" destId="{EB25FF19-C3F6-49CD-B04F-E68327FAD0F9}" srcOrd="0" destOrd="0" presId="urn:microsoft.com/office/officeart/2005/8/layout/cycle4"/>
    <dgm:cxn modelId="{BEE1FECD-2579-45DD-BF7D-01A216A22793}" srcId="{6D9F90BF-D969-46C3-A3FC-277A4FB82DAF}" destId="{0BB839E3-609A-4BBD-B62E-8BF04EA65D4A}" srcOrd="3" destOrd="0" parTransId="{1CE25BA4-7540-4459-A9C1-83AAC0D432E7}" sibTransId="{03C84649-7A67-4CAB-AE95-C9E884EAC3EE}"/>
    <dgm:cxn modelId="{5BC799ED-AEB3-4512-A68F-366656A6C406}" type="presOf" srcId="{BFAFD216-B983-4785-8548-2D91A344074E}" destId="{3B7229A2-5753-4AD8-BDCC-456630AFA071}" srcOrd="0" destOrd="0" presId="urn:microsoft.com/office/officeart/2005/8/layout/cycle4"/>
    <dgm:cxn modelId="{0AD7FDF4-6CA7-4EA4-A406-10949F8C9DBE}" srcId="{6D9F90BF-D969-46C3-A3FC-277A4FB82DAF}" destId="{87874479-BD54-419A-AE0D-810F9E6D8AFF}" srcOrd="0" destOrd="0" parTransId="{B4CA78FE-F7B4-447F-98D0-FA1BE48D089A}" sibTransId="{251AE9FA-D3E6-4316-BEF9-C2557F9A9BA1}"/>
    <dgm:cxn modelId="{BBA6D5F7-9F8C-4C96-82D0-58A9AA43777B}" srcId="{6D9F90BF-D969-46C3-A3FC-277A4FB82DAF}" destId="{A87852E8-5568-443B-9F0E-5554810A8138}" srcOrd="1" destOrd="0" parTransId="{DFA92795-BD1B-4D59-B896-FF375930385A}" sibTransId="{36480569-195A-48E6-8659-C6AE4A6E42A1}"/>
    <dgm:cxn modelId="{24085067-435D-4FE9-82A5-98D299E9A446}" type="presParOf" srcId="{E0EE678C-55EE-4F3A-87A9-AC73048558C8}" destId="{66A69DA3-BA6E-4913-AF08-F207A0B7AF1A}" srcOrd="0" destOrd="0" presId="urn:microsoft.com/office/officeart/2005/8/layout/cycle4"/>
    <dgm:cxn modelId="{35D45B4C-E9C0-4C37-8EB7-C17FDB02D749}" type="presParOf" srcId="{66A69DA3-BA6E-4913-AF08-F207A0B7AF1A}" destId="{9FAC98C4-B403-4482-BE41-3623963CEBC8}" srcOrd="0" destOrd="0" presId="urn:microsoft.com/office/officeart/2005/8/layout/cycle4"/>
    <dgm:cxn modelId="{4E444A8C-C375-4647-8654-CDF2CFA3A49A}" type="presParOf" srcId="{E0EE678C-55EE-4F3A-87A9-AC73048558C8}" destId="{4793BFC2-49AC-49E7-9E53-42599B391435}" srcOrd="1" destOrd="0" presId="urn:microsoft.com/office/officeart/2005/8/layout/cycle4"/>
    <dgm:cxn modelId="{EA073FFE-8C05-4658-8EC1-A8DE670F8C1D}" type="presParOf" srcId="{4793BFC2-49AC-49E7-9E53-42599B391435}" destId="{1645BE8C-BD6D-489A-886F-7E7DB9859618}" srcOrd="0" destOrd="0" presId="urn:microsoft.com/office/officeart/2005/8/layout/cycle4"/>
    <dgm:cxn modelId="{83D2C13E-4B26-4BEF-B0B7-AE7CBF239119}" type="presParOf" srcId="{4793BFC2-49AC-49E7-9E53-42599B391435}" destId="{568B7DB0-EC76-4DC5-B398-1DA14A4B14C4}" srcOrd="1" destOrd="0" presId="urn:microsoft.com/office/officeart/2005/8/layout/cycle4"/>
    <dgm:cxn modelId="{C8DAA2E6-5EE5-40D2-864D-102D4C1D4378}" type="presParOf" srcId="{4793BFC2-49AC-49E7-9E53-42599B391435}" destId="{3B7229A2-5753-4AD8-BDCC-456630AFA071}" srcOrd="2" destOrd="0" presId="urn:microsoft.com/office/officeart/2005/8/layout/cycle4"/>
    <dgm:cxn modelId="{381B75F4-C3D2-4AB1-BB14-0EF60CD6F4B7}" type="presParOf" srcId="{4793BFC2-49AC-49E7-9E53-42599B391435}" destId="{EB25FF19-C3F6-49CD-B04F-E68327FAD0F9}" srcOrd="3" destOrd="0" presId="urn:microsoft.com/office/officeart/2005/8/layout/cycle4"/>
    <dgm:cxn modelId="{1109FA17-1BF9-4922-A103-4E3493E8ED4D}" type="presParOf" srcId="{4793BFC2-49AC-49E7-9E53-42599B391435}" destId="{6F2689CB-8B9A-4175-BF49-FD654712B082}" srcOrd="4" destOrd="0" presId="urn:microsoft.com/office/officeart/2005/8/layout/cycle4"/>
    <dgm:cxn modelId="{E0B365CA-B0FF-4869-B3AB-52F51C44441F}" type="presParOf" srcId="{E0EE678C-55EE-4F3A-87A9-AC73048558C8}" destId="{5894FD81-6102-4C58-BB96-07DCF80899A8}" srcOrd="2" destOrd="0" presId="urn:microsoft.com/office/officeart/2005/8/layout/cycle4"/>
    <dgm:cxn modelId="{0B585CD8-093F-41C6-87F0-49320EAD548F}" type="presParOf" srcId="{E0EE678C-55EE-4F3A-87A9-AC73048558C8}" destId="{45F9156A-8C5A-47AB-8ABA-5B7DF759EB8F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45BE8C-BD6D-489A-886F-7E7DB9859618}">
      <dsp:nvSpPr>
        <dsp:cNvPr id="0" name=""/>
        <dsp:cNvSpPr/>
      </dsp:nvSpPr>
      <dsp:spPr>
        <a:xfrm>
          <a:off x="1072082" y="168938"/>
          <a:ext cx="1283339" cy="1283339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Plan</a:t>
          </a:r>
        </a:p>
      </dsp:txBody>
      <dsp:txXfrm>
        <a:off x="1447963" y="544819"/>
        <a:ext cx="907458" cy="907458"/>
      </dsp:txXfrm>
    </dsp:sp>
    <dsp:sp modelId="{568B7DB0-EC76-4DC5-B398-1DA14A4B14C4}">
      <dsp:nvSpPr>
        <dsp:cNvPr id="0" name=""/>
        <dsp:cNvSpPr/>
      </dsp:nvSpPr>
      <dsp:spPr>
        <a:xfrm rot="5400000">
          <a:off x="2414698" y="168938"/>
          <a:ext cx="1283339" cy="1283339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Do</a:t>
          </a:r>
        </a:p>
      </dsp:txBody>
      <dsp:txXfrm rot="-5400000">
        <a:off x="2414698" y="544819"/>
        <a:ext cx="907458" cy="907458"/>
      </dsp:txXfrm>
    </dsp:sp>
    <dsp:sp modelId="{3B7229A2-5753-4AD8-BDCC-456630AFA071}">
      <dsp:nvSpPr>
        <dsp:cNvPr id="0" name=""/>
        <dsp:cNvSpPr/>
      </dsp:nvSpPr>
      <dsp:spPr>
        <a:xfrm rot="10800000">
          <a:off x="2419100" y="1519575"/>
          <a:ext cx="1283339" cy="1283339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Check</a:t>
          </a:r>
        </a:p>
      </dsp:txBody>
      <dsp:txXfrm rot="10800000">
        <a:off x="2419100" y="1519575"/>
        <a:ext cx="907458" cy="907458"/>
      </dsp:txXfrm>
    </dsp:sp>
    <dsp:sp modelId="{EB25FF19-C3F6-49CD-B04F-E68327FAD0F9}">
      <dsp:nvSpPr>
        <dsp:cNvPr id="0" name=""/>
        <dsp:cNvSpPr/>
      </dsp:nvSpPr>
      <dsp:spPr>
        <a:xfrm rot="16200000">
          <a:off x="1072082" y="1511554"/>
          <a:ext cx="1283339" cy="1283339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Act</a:t>
          </a:r>
        </a:p>
      </dsp:txBody>
      <dsp:txXfrm rot="5400000">
        <a:off x="1447963" y="1511554"/>
        <a:ext cx="907458" cy="907458"/>
      </dsp:txXfrm>
    </dsp:sp>
    <dsp:sp modelId="{5894FD81-6102-4C58-BB96-07DCF80899A8}">
      <dsp:nvSpPr>
        <dsp:cNvPr id="0" name=""/>
        <dsp:cNvSpPr/>
      </dsp:nvSpPr>
      <dsp:spPr>
        <a:xfrm>
          <a:off x="2163513" y="1215171"/>
          <a:ext cx="443092" cy="385298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F9156A-8C5A-47AB-8ABA-5B7DF759EB8F}">
      <dsp:nvSpPr>
        <dsp:cNvPr id="0" name=""/>
        <dsp:cNvSpPr/>
      </dsp:nvSpPr>
      <dsp:spPr>
        <a:xfrm rot="10800000">
          <a:off x="2163513" y="1363362"/>
          <a:ext cx="443092" cy="385298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53E113-3701-4B9B-8EB9-0EE6702ED9A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090B2C-4150-4176-A955-7A41FBE725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407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90B2C-4150-4176-A955-7A41FBE7258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334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90B2C-4150-4176-A955-7A41FBE7258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356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0FC91-DCFD-7AA2-4390-F8A8D94345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D6A5F-A78F-3BB9-3A2F-6B45FCE09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7A850-B1E1-ACD3-3B58-DC7DEC6D7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43A-DF4E-4732-9D16-D5BBD600961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4A7A7-E995-6D77-67E6-9AEAF2927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F3E7B-34B4-E298-2269-676A6A30F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29F78-8313-459B-A070-14A41D753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37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2139E-C596-99F2-C428-90D3288E1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603B5-8E8E-6629-7346-F502A197C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EDBD5-DE34-61C2-12E0-B167A2D9E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43A-DF4E-4732-9D16-D5BBD600961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C4C99-5FF4-E581-CEB1-1028CD4B2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986F8-446D-75EB-9D17-D911F2ADC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29F78-8313-459B-A070-14A41D753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986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29C13-1E6D-D238-31E5-79EB1554D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F70CC-2DEB-0A9B-50BA-53E3D1206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D98DA-E3B2-00A4-BFEC-E0A7F505B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43A-DF4E-4732-9D16-D5BBD600961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BDD72-3EEF-E8E2-0423-BA2733A15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C6425-638E-1A10-339C-F9303D229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29F78-8313-459B-A070-14A41D753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215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5D932-59B8-1129-6DF7-FC8F8AFF4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78A9B-6C37-51F5-FCFF-179BE7908F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C36969-662A-BFCB-37BC-03B6F667C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654066-3258-45E5-6905-5E646636E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43A-DF4E-4732-9D16-D5BBD600961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115C15-BBD4-B2AE-7B58-AAB7E65D0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C675C9-09AA-E839-7641-02F385696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29F78-8313-459B-A070-14A41D753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126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7245D-5E99-88B1-BE6B-77A0FCDE7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C06D9-CB21-2E4E-64ED-F4C0096B2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089169-2A53-53B7-4E1F-95EF6AD6D2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980495-84F5-D8DC-0EE9-4C5F90F465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A9253E-76BA-7ACE-9838-94B9B1AEF5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8ED04D-EF92-C813-79E4-391085F2A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43A-DF4E-4732-9D16-D5BBD600961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556BA4-EE8F-708B-60F2-7A027E0AB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8E021F-C8E9-FB7F-8ABA-EBCA77783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29F78-8313-459B-A070-14A41D753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73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5BD2A-B6E4-BB8D-428F-50995222E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8D7B85-EA04-B212-6422-5C291A233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43A-DF4E-4732-9D16-D5BBD600961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2A164D-A386-0570-E77C-0BAE4D9F0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5F5F1E-9A08-C9B6-926C-9CF936C72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29F78-8313-459B-A070-14A41D753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889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EFB925-AF23-42C6-1FA5-AAB07215F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43A-DF4E-4732-9D16-D5BBD600961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9073F8-73A7-4609-0606-B264CEEF7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B23A4-D449-A166-7635-68D90E9E7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29F78-8313-459B-A070-14A41D753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6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D6C98-0B40-19A7-EFB2-D26A920A0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3E666-F2CA-0AC5-EA3C-200B6BA94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7E6D5-DFF3-B960-C651-7A80BD2366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3547F3-3655-3685-A893-32FE67C85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43A-DF4E-4732-9D16-D5BBD600961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F33A8-BDD3-E439-CD1E-90789EECF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45DFA-B5F0-7AE0-C750-90041D3AB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29F78-8313-459B-A070-14A41D753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97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0BD2D-8C08-1302-A9DD-9557DE3C8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D4BA50-62D2-0962-CDB9-362925BDB4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D2A7BB-3E95-1EEB-945B-2F573F9C1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6B5F59-CD74-E7D8-6311-F5493F61B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43A-DF4E-4732-9D16-D5BBD600961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F5A743-4699-9541-C2B8-E1C6F1416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999C7-2C72-5F54-34AC-505EAB584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29F78-8313-459B-A070-14A41D753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610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8923B-153B-8A59-FA39-57B8FC3A5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5CDBFA-C3B9-FEAA-80E0-111DE7A480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4BDAE-AF9D-0847-F036-37E422205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43A-DF4E-4732-9D16-D5BBD600961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16A7A-DC16-BF8A-3BF8-7B51CD0C3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C8D41-23F2-4DF3-14BB-4E5B1EEB7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29F78-8313-459B-A070-14A41D753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687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2B8C2E-D714-4147-D7B1-C48EDF23ED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CEF15F-E7C4-ECA1-CBF3-645C134E71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CD343-00CB-A668-2ADA-DD15BBEE2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43A-DF4E-4732-9D16-D5BBD600961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DDE66-F15A-BDD1-DF70-300ECD149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7BE93-C73D-BBEA-011B-7C18CAF03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29F78-8313-459B-A070-14A41D753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332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39B91E-CCFB-09A0-C231-38C0100EC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78178-0F50-D40B-4066-C94187BF9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0399F-B8D5-091F-3AB2-9C0F517E5E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28743A-DF4E-4732-9D16-D5BBD600961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FE8F8-1226-2F66-F606-F17C11A007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570C8-397E-1803-9107-ADDF981CF5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129F78-8313-459B-A070-14A41D753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667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jpe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timesofindia.indiatimes.com/business/india-business/telecom-earnings-preview-jio-may-lead-in-revenue-growth-airtel-likely-to-top-arpu-number-vi-steadies-user-base/articleshow/122254903.cms" TargetMode="External"/><Relationship Id="rId13" Type="http://schemas.openxmlformats.org/officeDocument/2006/relationships/hyperlink" Target="https://www.flaticon.com/free-icon/solution_9782496" TargetMode="External"/><Relationship Id="rId3" Type="http://schemas.openxmlformats.org/officeDocument/2006/relationships/hyperlink" Target="https://www.deloitte.com/us/en/insights/industry/technology/technology-media-telecom" TargetMode="External"/><Relationship Id="rId7" Type="http://schemas.openxmlformats.org/officeDocument/2006/relationships/hyperlink" Target="https://about.att.com/story/2026/1q-earnings.html" TargetMode="External"/><Relationship Id="rId12" Type="http://schemas.openxmlformats.org/officeDocument/2006/relationships/hyperlink" Target="https://www.vectorstock.com/royalty-free-vectors/problem-statement-icon-vectors" TargetMode="External"/><Relationship Id="rId2" Type="http://schemas.openxmlformats.org/officeDocument/2006/relationships/hyperlink" Target="https://blog.protiviti.com/2026/01/13/2026-and-beyond-why-telcos-must-reinvent-or-be-replaced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exchange4media.com/advertising-news/telecom-tussle-airtel-vi-spar-over-priority-access-advertising-155393.html" TargetMode="External"/><Relationship Id="rId11" Type="http://schemas.openxmlformats.org/officeDocument/2006/relationships/hyperlink" Target="https://chiefaiofficer.com/the-t-mobile-ai-strategy-that-increased-customer-renewals-30/" TargetMode="External"/><Relationship Id="rId5" Type="http://schemas.openxmlformats.org/officeDocument/2006/relationships/hyperlink" Target="https://www.ey.com/en_gl/insights/telecommunications/how-can-telcos-navigate-a-world-of-evolving-risks" TargetMode="External"/><Relationship Id="rId15" Type="http://schemas.openxmlformats.org/officeDocument/2006/relationships/hyperlink" Target="https://chatgpt.com/share/6a3493f1-7e8c-83e8-a793-81b9e43059fd" TargetMode="External"/><Relationship Id="rId10" Type="http://schemas.openxmlformats.org/officeDocument/2006/relationships/hyperlink" Target="https://www.verizon.com/business/resources/articles/s/how-to-integrate-ai-into-your-customer-retention-strategies/" TargetMode="External"/><Relationship Id="rId4" Type="http://schemas.openxmlformats.org/officeDocument/2006/relationships/hyperlink" Target="https://htec.com/insights/blogs/key-trends-shaping-the-telecommunications-industry-in-2026/" TargetMode="External"/><Relationship Id="rId9" Type="http://schemas.openxmlformats.org/officeDocument/2006/relationships/hyperlink" Target="https://customergauge.com/blog/reducing-customer-churn-in-telecommunications" TargetMode="External"/><Relationship Id="rId14" Type="http://schemas.openxmlformats.org/officeDocument/2006/relationships/hyperlink" Target="https://gemini.google.com/share/bb1cfaa9b1f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18683-C21A-EF14-5338-D3693BF1C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40" y="5718630"/>
            <a:ext cx="5415280" cy="1017450"/>
          </a:xfrm>
        </p:spPr>
        <p:txBody>
          <a:bodyPr anchor="t">
            <a:normAutofit fontScale="90000"/>
          </a:bodyPr>
          <a:lstStyle/>
          <a:p>
            <a:r>
              <a:rPr lang="en-IN" sz="2400" b="1" dirty="0"/>
              <a:t>GCI World 2026 Final Assignment</a:t>
            </a:r>
            <a:br>
              <a:rPr lang="en-IN" sz="2400" dirty="0"/>
            </a:br>
            <a:r>
              <a:rPr lang="en-IN" sz="2400" b="1" dirty="0"/>
              <a:t>Name:</a:t>
            </a:r>
            <a:r>
              <a:rPr lang="en-IN" sz="2400" dirty="0"/>
              <a:t> Neel Kapadi</a:t>
            </a:r>
            <a:br>
              <a:rPr lang="en-IN" sz="2400" dirty="0"/>
            </a:br>
            <a:r>
              <a:rPr lang="en-IN" sz="2400" b="1" dirty="0"/>
              <a:t>IIT Guwahati, India</a:t>
            </a:r>
            <a:endParaRPr lang="en-IN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8C6BC1-3860-0BA1-FB03-B01EE523BA3E}"/>
              </a:ext>
            </a:extLst>
          </p:cNvPr>
          <p:cNvSpPr txBox="1"/>
          <p:nvPr/>
        </p:nvSpPr>
        <p:spPr>
          <a:xfrm>
            <a:off x="2434615" y="3635396"/>
            <a:ext cx="73227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Explainable AI-Powered Customer Retention &amp; Intervention System</a:t>
            </a:r>
            <a:endParaRPr lang="en-IN" sz="3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34E71E-CB81-49C4-80C8-5EDD7D6936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46" t="27299" r="61562" b="27664"/>
          <a:stretch>
            <a:fillRect/>
          </a:stretch>
        </p:blipFill>
        <p:spPr>
          <a:xfrm>
            <a:off x="5247166" y="1315763"/>
            <a:ext cx="1697668" cy="17618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F5C020-0088-47A2-BD30-B77A5F20578F}"/>
              </a:ext>
            </a:extLst>
          </p:cNvPr>
          <p:cNvSpPr txBox="1"/>
          <p:nvPr/>
        </p:nvSpPr>
        <p:spPr>
          <a:xfrm>
            <a:off x="1564639" y="1873530"/>
            <a:ext cx="8470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Our Company XAI                     presents you </a:t>
            </a:r>
          </a:p>
        </p:txBody>
      </p:sp>
    </p:spTree>
    <p:extLst>
      <p:ext uri="{BB962C8B-B14F-4D97-AF65-F5344CB8AC3E}">
        <p14:creationId xmlns:p14="http://schemas.microsoft.com/office/powerpoint/2010/main" val="1840915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9BAB3-E7C5-E279-FBDD-251016BCF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81" y="247144"/>
            <a:ext cx="4453647" cy="657529"/>
          </a:xfrm>
        </p:spPr>
        <p:txBody>
          <a:bodyPr>
            <a:normAutofit/>
          </a:bodyPr>
          <a:lstStyle/>
          <a:p>
            <a:r>
              <a:rPr lang="en-IN" sz="3600" b="1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78A67-FB7E-229D-695D-26E816AD0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81" y="904672"/>
            <a:ext cx="11214370" cy="5826867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IN" sz="1800" dirty="0"/>
              <a:t>Introduction………………………………………………………………………………………………………………………………..3</a:t>
            </a:r>
          </a:p>
          <a:p>
            <a:pPr>
              <a:lnSpc>
                <a:spcPct val="120000"/>
              </a:lnSpc>
            </a:pPr>
            <a:r>
              <a:rPr lang="en-IN" sz="1800" dirty="0"/>
              <a:t>Telecom Industry Challenges………………………………………………………………………………………………………...4</a:t>
            </a:r>
          </a:p>
          <a:p>
            <a:pPr>
              <a:lnSpc>
                <a:spcPct val="120000"/>
              </a:lnSpc>
            </a:pPr>
            <a:r>
              <a:rPr lang="en-IN" sz="1800" dirty="0"/>
              <a:t>Implementation of PDCA cycle……………………………………………………………………………………………………….5</a:t>
            </a:r>
          </a:p>
          <a:p>
            <a:pPr>
              <a:lnSpc>
                <a:spcPct val="120000"/>
              </a:lnSpc>
            </a:pPr>
            <a:r>
              <a:rPr lang="en-IN" sz="1800" dirty="0"/>
              <a:t>Data Overview and Potential Hypothesis………………………………………………………………………………………….6</a:t>
            </a:r>
          </a:p>
          <a:p>
            <a:pPr>
              <a:lnSpc>
                <a:spcPct val="120000"/>
              </a:lnSpc>
            </a:pPr>
            <a:r>
              <a:rPr lang="en-IN" sz="1800" dirty="0"/>
              <a:t> Key Findings from Exploratory Data Analysis…………………………………………………………………………………….7</a:t>
            </a:r>
          </a:p>
          <a:p>
            <a:pPr>
              <a:lnSpc>
                <a:spcPct val="120000"/>
              </a:lnSpc>
            </a:pPr>
            <a:r>
              <a:rPr lang="en-IN" sz="1800" dirty="0"/>
              <a:t> Existing Industry Solutions and Gap Analysis……………………………………………………………………………………8</a:t>
            </a:r>
          </a:p>
          <a:p>
            <a:pPr>
              <a:lnSpc>
                <a:spcPct val="120000"/>
              </a:lnSpc>
            </a:pPr>
            <a:r>
              <a:rPr lang="en-IN" sz="1800" dirty="0"/>
              <a:t>Solution Framework………………………………………………………………………………………………………………………9</a:t>
            </a:r>
          </a:p>
          <a:p>
            <a:pPr>
              <a:lnSpc>
                <a:spcPct val="120000"/>
              </a:lnSpc>
            </a:pPr>
            <a:r>
              <a:rPr lang="en-IN" sz="1800" dirty="0"/>
              <a:t>Pipeline for Machine Learning Workflow…………………………………………………………………………………………10</a:t>
            </a:r>
          </a:p>
          <a:p>
            <a:pPr>
              <a:lnSpc>
                <a:spcPct val="120000"/>
              </a:lnSpc>
            </a:pPr>
            <a:r>
              <a:rPr lang="en-IN" sz="1800" dirty="0"/>
              <a:t>Evaluation Metrics, Model Comparison, Important Features……………………………………………………………..11</a:t>
            </a:r>
          </a:p>
          <a:p>
            <a:pPr>
              <a:lnSpc>
                <a:spcPct val="120000"/>
              </a:lnSpc>
            </a:pPr>
            <a:r>
              <a:rPr lang="en-IN" sz="1800" dirty="0"/>
              <a:t>SHAP Analysis……………………………………………………………………………………………………………………………12</a:t>
            </a:r>
          </a:p>
          <a:p>
            <a:pPr>
              <a:lnSpc>
                <a:spcPct val="120000"/>
              </a:lnSpc>
            </a:pPr>
            <a:r>
              <a:rPr lang="en-IN" sz="1800" dirty="0"/>
              <a:t>Customer Risk Segmentation and Personalized Recommendations…………………………………………………..13</a:t>
            </a:r>
          </a:p>
          <a:p>
            <a:pPr>
              <a:lnSpc>
                <a:spcPct val="120000"/>
              </a:lnSpc>
            </a:pPr>
            <a:r>
              <a:rPr lang="en-IN" sz="1800" dirty="0"/>
              <a:t>Quotation………………………………………………………………………………………………………………………………….14</a:t>
            </a:r>
          </a:p>
          <a:p>
            <a:pPr>
              <a:lnSpc>
                <a:spcPct val="120000"/>
              </a:lnSpc>
            </a:pPr>
            <a:r>
              <a:rPr lang="en-IN" sz="1800" dirty="0"/>
              <a:t>References………………………………………………………………………………………………………………………………..15</a:t>
            </a:r>
          </a:p>
          <a:p>
            <a:pPr>
              <a:lnSpc>
                <a:spcPct val="120000"/>
              </a:lnSpc>
            </a:pPr>
            <a:endParaRPr lang="en-IN" sz="1800" dirty="0"/>
          </a:p>
          <a:p>
            <a:pPr>
              <a:lnSpc>
                <a:spcPct val="120000"/>
              </a:lnSpc>
            </a:pPr>
            <a:endParaRPr lang="en-IN" sz="1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53FE44-DA2D-30BB-8DC0-E71904B1F045}"/>
              </a:ext>
            </a:extLst>
          </p:cNvPr>
          <p:cNvSpPr/>
          <p:nvPr/>
        </p:nvSpPr>
        <p:spPr>
          <a:xfrm>
            <a:off x="11868620" y="6548356"/>
            <a:ext cx="255600" cy="254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28582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FA1F90B-2381-B25E-9C54-F735CF2BBD47}"/>
              </a:ext>
            </a:extLst>
          </p:cNvPr>
          <p:cNvSpPr txBox="1">
            <a:spLocks/>
          </p:cNvSpPr>
          <p:nvPr/>
        </p:nvSpPr>
        <p:spPr>
          <a:xfrm>
            <a:off x="1758780" y="2261460"/>
            <a:ext cx="2636520" cy="585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/>
              <a:t>Our solution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68B51D-AAF8-2AE9-E109-6526275F71F3}"/>
              </a:ext>
            </a:extLst>
          </p:cNvPr>
          <p:cNvSpPr txBox="1"/>
          <p:nvPr/>
        </p:nvSpPr>
        <p:spPr>
          <a:xfrm>
            <a:off x="526980" y="3113891"/>
            <a:ext cx="5353520" cy="2542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dirty="0"/>
              <a:t>We at </a:t>
            </a:r>
            <a:r>
              <a:rPr lang="en-IN" b="1" dirty="0"/>
              <a:t>XAI</a:t>
            </a:r>
            <a:r>
              <a:rPr lang="en-IN" dirty="0"/>
              <a:t> developed an </a:t>
            </a:r>
            <a:r>
              <a:rPr lang="en-IN" b="1" dirty="0"/>
              <a:t>Explainable AI-Powered Customer Retention &amp; Intervention System</a:t>
            </a:r>
            <a:r>
              <a:rPr lang="en-IN" dirty="0"/>
              <a:t> that: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✅ Predicts customer churn risk using CatBoost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✅ Explains churn drivers using SHAP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✅ Segments customers by risk level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✅ Recommends personalized retention actions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CECC7C-4FE9-0F45-E35F-DCFBFDF31C97}"/>
              </a:ext>
            </a:extLst>
          </p:cNvPr>
          <p:cNvSpPr txBox="1"/>
          <p:nvPr/>
        </p:nvSpPr>
        <p:spPr>
          <a:xfrm>
            <a:off x="6908200" y="1671005"/>
            <a:ext cx="5006340" cy="5361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200" b="1" dirty="0"/>
              <a:t>Key Results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📊 Dataset: 100,000 customers, 100 features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📈 Best Model: CatBoost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📈 ROC-AUC: </a:t>
            </a:r>
            <a:r>
              <a:rPr lang="en-IN" b="1" dirty="0"/>
              <a:t>0.693</a:t>
            </a:r>
            <a:endParaRPr lang="en-IN" dirty="0"/>
          </a:p>
          <a:p>
            <a:pPr algn="just">
              <a:lnSpc>
                <a:spcPct val="150000"/>
              </a:lnSpc>
            </a:pPr>
            <a:r>
              <a:rPr lang="en-IN" dirty="0"/>
              <a:t>📈 Highest-Risk Segment Churn Rate: </a:t>
            </a:r>
            <a:r>
              <a:rPr lang="en-IN" b="1" dirty="0"/>
              <a:t>77.9%</a:t>
            </a:r>
            <a:endParaRPr lang="en-IN" dirty="0"/>
          </a:p>
          <a:p>
            <a:pPr algn="just">
              <a:lnSpc>
                <a:spcPct val="150000"/>
              </a:lnSpc>
            </a:pPr>
            <a:r>
              <a:rPr lang="en-IN" dirty="0"/>
              <a:t>📈 Overall Churn Rate: </a:t>
            </a:r>
            <a:r>
              <a:rPr lang="en-IN" b="1" dirty="0"/>
              <a:t>49.6%</a:t>
            </a:r>
            <a:endParaRPr lang="en-IN" dirty="0"/>
          </a:p>
          <a:p>
            <a:pPr algn="just">
              <a:lnSpc>
                <a:spcPct val="150000"/>
              </a:lnSpc>
            </a:pPr>
            <a:r>
              <a:rPr lang="en-IN" dirty="0"/>
              <a:t>🎯 Identified key churn drivers:</a:t>
            </a:r>
          </a:p>
          <a:p>
            <a:pPr marL="538163" lvl="1" indent="-18256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Device age </a:t>
            </a:r>
          </a:p>
          <a:p>
            <a:pPr marL="538163" lvl="1" indent="-18256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Usage decline </a:t>
            </a:r>
          </a:p>
          <a:p>
            <a:pPr marL="538163" lvl="1" indent="-18256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Overage charges </a:t>
            </a:r>
          </a:p>
          <a:p>
            <a:pPr marL="538163" lvl="1" indent="-18256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Customer lifecycle stage </a:t>
            </a:r>
          </a:p>
          <a:p>
            <a:pPr algn="just">
              <a:lnSpc>
                <a:spcPct val="150000"/>
              </a:lnSpc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5355AF-F645-D6F8-62E8-3557D1D0A2A5}"/>
              </a:ext>
            </a:extLst>
          </p:cNvPr>
          <p:cNvSpPr txBox="1"/>
          <p:nvPr/>
        </p:nvSpPr>
        <p:spPr>
          <a:xfrm>
            <a:off x="6561020" y="112543"/>
            <a:ext cx="5353520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IN" sz="2400" b="1" dirty="0"/>
              <a:t>Our Moto: Be </a:t>
            </a:r>
            <a:r>
              <a:rPr lang="en-IN" sz="2400" b="1" dirty="0">
                <a:highlight>
                  <a:srgbClr val="00FF00"/>
                </a:highlight>
              </a:rPr>
              <a:t>PROACTIVE</a:t>
            </a:r>
            <a:r>
              <a:rPr lang="en-IN" sz="2400" b="1" dirty="0"/>
              <a:t> </a:t>
            </a:r>
            <a:r>
              <a:rPr lang="en-IN" b="1" dirty="0"/>
              <a:t>rather than </a:t>
            </a:r>
            <a:r>
              <a:rPr lang="en-IN" sz="2400" b="1" dirty="0">
                <a:highlight>
                  <a:srgbClr val="FF0000"/>
                </a:highlight>
              </a:rPr>
              <a:t>REACTIVE</a:t>
            </a:r>
          </a:p>
          <a:p>
            <a:pPr algn="just"/>
            <a:r>
              <a:rPr lang="en-IN" dirty="0"/>
              <a:t>Instead of reacting after customers leave, the proposed system enables proactive and targeted retention interventions.</a:t>
            </a:r>
          </a:p>
          <a:p>
            <a:pPr algn="just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C6ED7C-1E8E-F2F6-EFC7-78706F65EFC9}"/>
              </a:ext>
            </a:extLst>
          </p:cNvPr>
          <p:cNvSpPr/>
          <p:nvPr/>
        </p:nvSpPr>
        <p:spPr>
          <a:xfrm>
            <a:off x="11868620" y="6538628"/>
            <a:ext cx="255600" cy="254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3</a:t>
            </a:r>
          </a:p>
        </p:txBody>
      </p:sp>
      <p:pic>
        <p:nvPicPr>
          <p:cNvPr id="21" name="Picture 20" descr="Solution - Free marketing icons">
            <a:extLst>
              <a:ext uri="{FF2B5EF4-FFF2-40B4-BE49-F238E27FC236}">
                <a16:creationId xmlns:a16="http://schemas.microsoft.com/office/drawing/2014/main" id="{DBBBD5BF-5E82-D761-9940-3AC1FD053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80" y="2079638"/>
            <a:ext cx="766880" cy="766880"/>
          </a:xfrm>
          <a:prstGeom prst="rect">
            <a:avLst/>
          </a:prstGeom>
        </p:spPr>
      </p:pic>
      <p:pic>
        <p:nvPicPr>
          <p:cNvPr id="24" name="Picture 23" descr="Problem statement icon Vector Images ...">
            <a:extLst>
              <a:ext uri="{FF2B5EF4-FFF2-40B4-BE49-F238E27FC236}">
                <a16:creationId xmlns:a16="http://schemas.microsoft.com/office/drawing/2014/main" id="{AD092647-24C9-AC0F-1C9C-982335DF2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00" y="-38424"/>
            <a:ext cx="884120" cy="887095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387653D-093D-042C-A57B-6B4E7095C984}"/>
              </a:ext>
            </a:extLst>
          </p:cNvPr>
          <p:cNvSpPr/>
          <p:nvPr/>
        </p:nvSpPr>
        <p:spPr>
          <a:xfrm>
            <a:off x="323380" y="1812265"/>
            <a:ext cx="5760720" cy="483974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F15F1E7-31AA-0A5D-271D-250C19897CE9}"/>
              </a:ext>
            </a:extLst>
          </p:cNvPr>
          <p:cNvSpPr/>
          <p:nvPr/>
        </p:nvSpPr>
        <p:spPr>
          <a:xfrm>
            <a:off x="6426400" y="1810672"/>
            <a:ext cx="5442220" cy="4841335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96FF3-C852-9946-0E99-62A048A53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820" y="820540"/>
            <a:ext cx="5516680" cy="66437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IN" sz="1800" dirty="0"/>
              <a:t>Company A lose substantial revenue due to customer churn and decline in usage of service.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2B0005-C161-BA3B-119B-23E66DADE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220" y="265633"/>
            <a:ext cx="4970280" cy="330198"/>
          </a:xfrm>
        </p:spPr>
        <p:txBody>
          <a:bodyPr>
            <a:noAutofit/>
          </a:bodyPr>
          <a:lstStyle/>
          <a:p>
            <a:r>
              <a:rPr lang="en-IN" sz="2800" b="1" dirty="0"/>
              <a:t>Company A Business </a:t>
            </a:r>
            <a:r>
              <a:rPr lang="en-IN" sz="2800" b="1" dirty="0">
                <a:latin typeface="+mn-lt"/>
              </a:rPr>
              <a:t>Problem</a:t>
            </a:r>
            <a:endParaRPr lang="en-IN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79686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84917-309A-0A0F-016A-9A2DB99FA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F7449-6D63-AFA8-144E-69E542279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680" y="100004"/>
            <a:ext cx="7076440" cy="983298"/>
          </a:xfrm>
        </p:spPr>
        <p:txBody>
          <a:bodyPr>
            <a:normAutofit/>
          </a:bodyPr>
          <a:lstStyle/>
          <a:p>
            <a:r>
              <a:rPr lang="en-IN" sz="3600" b="1" dirty="0"/>
              <a:t>Telecom Industry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F1F65-7CF9-DA6A-B4DF-342C87128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79" y="944882"/>
            <a:ext cx="6654799" cy="3723490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IN" sz="2000" dirty="0"/>
              <a:t>📱 Highly competitive telecom market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IN" sz="2000" dirty="0"/>
              <a:t>📱 Low switching barriers for customers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IN" sz="2000" dirty="0"/>
              <a:t>📱 Increasing customer acquisition costs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IN" sz="2000" dirty="0"/>
              <a:t>📱 Revenue loss due to customer attrition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IN" sz="2000" dirty="0"/>
              <a:t>📱 Generic retention campaigns lead to poor ROI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7E0184-F40F-6793-70F4-8C05261D7419}"/>
              </a:ext>
            </a:extLst>
          </p:cNvPr>
          <p:cNvSpPr txBox="1"/>
          <p:nvPr/>
        </p:nvSpPr>
        <p:spPr>
          <a:xfrm>
            <a:off x="360679" y="4467063"/>
            <a:ext cx="8964118" cy="2233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dirty="0"/>
              <a:t>Research consistently shows:</a:t>
            </a:r>
          </a:p>
          <a:p>
            <a:pPr marL="263525" indent="-26352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Retaining</a:t>
            </a:r>
            <a:r>
              <a:rPr lang="en-IN" dirty="0"/>
              <a:t> an </a:t>
            </a:r>
            <a:r>
              <a:rPr lang="en-IN" b="1" dirty="0"/>
              <a:t>existing customer </a:t>
            </a:r>
            <a:r>
              <a:rPr lang="en-IN" dirty="0"/>
              <a:t>is significantly </a:t>
            </a:r>
            <a:r>
              <a:rPr lang="en-IN" b="1" dirty="0"/>
              <a:t>cheaper</a:t>
            </a:r>
            <a:r>
              <a:rPr lang="en-IN" dirty="0"/>
              <a:t> than acquiring a new one. </a:t>
            </a:r>
          </a:p>
          <a:p>
            <a:pPr marL="263525" indent="-26352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A </a:t>
            </a:r>
            <a:r>
              <a:rPr lang="en-IN" b="1" dirty="0"/>
              <a:t>small improvement in retention </a:t>
            </a:r>
            <a:r>
              <a:rPr lang="en-IN" dirty="0"/>
              <a:t>can generate </a:t>
            </a:r>
            <a:r>
              <a:rPr lang="en-IN" b="1" dirty="0"/>
              <a:t>substantial revenue impact</a:t>
            </a:r>
            <a:r>
              <a:rPr lang="en-IN" dirty="0"/>
              <a:t>. </a:t>
            </a:r>
          </a:p>
          <a:p>
            <a:pPr marL="263525" indent="-26352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High-value customers </a:t>
            </a:r>
            <a:r>
              <a:rPr lang="en-IN" dirty="0"/>
              <a:t>contribute disproportionately to </a:t>
            </a:r>
            <a:r>
              <a:rPr lang="en-IN" b="1" dirty="0"/>
              <a:t>revenue</a:t>
            </a:r>
            <a:r>
              <a:rPr lang="en-IN" dirty="0"/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712BDF-396A-3AF3-B8F2-00D02AAB04EB}"/>
              </a:ext>
            </a:extLst>
          </p:cNvPr>
          <p:cNvSpPr/>
          <p:nvPr/>
        </p:nvSpPr>
        <p:spPr>
          <a:xfrm>
            <a:off x="11868620" y="6548356"/>
            <a:ext cx="255600" cy="254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4</a:t>
            </a:r>
          </a:p>
        </p:txBody>
      </p:sp>
      <p:pic>
        <p:nvPicPr>
          <p:cNvPr id="10" name="Picture 9" descr="Customer Retention Versus Customer Acquisition">
            <a:extLst>
              <a:ext uri="{FF2B5EF4-FFF2-40B4-BE49-F238E27FC236}">
                <a16:creationId xmlns:a16="http://schemas.microsoft.com/office/drawing/2014/main" id="{4EABE8DA-DE2E-D389-0C60-B6F5FF6A5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8476" y="2010661"/>
            <a:ext cx="1660144" cy="1464833"/>
          </a:xfrm>
          <a:prstGeom prst="rect">
            <a:avLst/>
          </a:prstGeom>
        </p:spPr>
      </p:pic>
      <p:pic>
        <p:nvPicPr>
          <p:cNvPr id="11" name="Picture 10" descr="Free sports and competition icons">
            <a:extLst>
              <a:ext uri="{FF2B5EF4-FFF2-40B4-BE49-F238E27FC236}">
                <a16:creationId xmlns:a16="http://schemas.microsoft.com/office/drawing/2014/main" id="{C0C1C91B-903E-14EC-378F-C9FC79DE1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013" y="1658757"/>
            <a:ext cx="1555467" cy="1555467"/>
          </a:xfrm>
          <a:prstGeom prst="rect">
            <a:avLst/>
          </a:prstGeom>
        </p:spPr>
      </p:pic>
      <p:pic>
        <p:nvPicPr>
          <p:cNvPr id="12" name="Picture 11" descr="Profit and loss - Free marketing icons">
            <a:extLst>
              <a:ext uri="{FF2B5EF4-FFF2-40B4-BE49-F238E27FC236}">
                <a16:creationId xmlns:a16="http://schemas.microsoft.com/office/drawing/2014/main" id="{528B0FAD-A56C-3EEC-71CC-E2BB0E2DED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4725" y="3295535"/>
            <a:ext cx="1660144" cy="1660144"/>
          </a:xfrm>
          <a:prstGeom prst="rect">
            <a:avLst/>
          </a:prstGeom>
        </p:spPr>
      </p:pic>
      <p:pic>
        <p:nvPicPr>
          <p:cNvPr id="13" name="Picture 12" descr="Competitive Icon Vector Art, Icons, and ...">
            <a:extLst>
              <a:ext uri="{FF2B5EF4-FFF2-40B4-BE49-F238E27FC236}">
                <a16:creationId xmlns:a16="http://schemas.microsoft.com/office/drawing/2014/main" id="{C41358F7-AF0F-FF87-9783-09A16CAF6D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7717" y="628131"/>
            <a:ext cx="1608521" cy="1382530"/>
          </a:xfrm>
          <a:prstGeom prst="rect">
            <a:avLst/>
          </a:prstGeom>
        </p:spPr>
      </p:pic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35A6598C-58EE-A961-678E-CEF0529F99C0}"/>
              </a:ext>
            </a:extLst>
          </p:cNvPr>
          <p:cNvSpPr/>
          <p:nvPr/>
        </p:nvSpPr>
        <p:spPr>
          <a:xfrm>
            <a:off x="7648824" y="2305833"/>
            <a:ext cx="1956045" cy="876356"/>
          </a:xfrm>
          <a:prstGeom prst="flowChartConnector">
            <a:avLst/>
          </a:prstGeom>
          <a:solidFill>
            <a:srgbClr val="C00000"/>
          </a:solidFill>
          <a:ln>
            <a:noFill/>
          </a:ln>
          <a:effectLst>
            <a:glow rad="101600">
              <a:schemeClr val="bg1">
                <a:alpha val="60000"/>
              </a:schemeClr>
            </a:glow>
            <a:outerShdw blurRad="57785" dist="33020" dir="318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Challenges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F726DA1-46C3-ED80-581C-3EA59F4B3C95}"/>
              </a:ext>
            </a:extLst>
          </p:cNvPr>
          <p:cNvCxnSpPr>
            <a:stCxn id="24" idx="0"/>
          </p:cNvCxnSpPr>
          <p:nvPr/>
        </p:nvCxnSpPr>
        <p:spPr>
          <a:xfrm flipH="1" flipV="1">
            <a:off x="8626846" y="1869440"/>
            <a:ext cx="1" cy="4363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1D0D709-4E11-0A57-2618-812660330924}"/>
              </a:ext>
            </a:extLst>
          </p:cNvPr>
          <p:cNvCxnSpPr>
            <a:stCxn id="24" idx="2"/>
          </p:cNvCxnSpPr>
          <p:nvPr/>
        </p:nvCxnSpPr>
        <p:spPr>
          <a:xfrm flipH="1" flipV="1">
            <a:off x="7015478" y="2743077"/>
            <a:ext cx="633346" cy="9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A06AB75-91BD-AF18-F548-FC2044BF3D41}"/>
              </a:ext>
            </a:extLst>
          </p:cNvPr>
          <p:cNvCxnSpPr>
            <a:stCxn id="24" idx="4"/>
          </p:cNvCxnSpPr>
          <p:nvPr/>
        </p:nvCxnSpPr>
        <p:spPr>
          <a:xfrm flipH="1">
            <a:off x="8626846" y="3182189"/>
            <a:ext cx="1" cy="4652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94E0640-8282-0698-0671-0310BCBBC200}"/>
              </a:ext>
            </a:extLst>
          </p:cNvPr>
          <p:cNvCxnSpPr>
            <a:stCxn id="24" idx="6"/>
            <a:endCxn id="10" idx="1"/>
          </p:cNvCxnSpPr>
          <p:nvPr/>
        </p:nvCxnSpPr>
        <p:spPr>
          <a:xfrm flipV="1">
            <a:off x="9604869" y="2743078"/>
            <a:ext cx="603607" cy="9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9944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F2074-3DC5-10EC-20FA-26B413BD2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F0908-4104-1D59-17B9-DE60F061A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87015"/>
            <a:ext cx="11770360" cy="827386"/>
          </a:xfrm>
        </p:spPr>
        <p:txBody>
          <a:bodyPr>
            <a:normAutofit fontScale="90000"/>
          </a:bodyPr>
          <a:lstStyle/>
          <a:p>
            <a:r>
              <a:rPr lang="en-IN" sz="3600" b="1" dirty="0"/>
              <a:t>Implementation of PDCA cycle for Reliable Business Solutions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D0C745-6A89-437C-3FAE-8965AF72D1DD}"/>
              </a:ext>
            </a:extLst>
          </p:cNvPr>
          <p:cNvSpPr txBox="1"/>
          <p:nvPr/>
        </p:nvSpPr>
        <p:spPr>
          <a:xfrm>
            <a:off x="167640" y="3994253"/>
            <a:ext cx="5775958" cy="2681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2400" b="1" dirty="0"/>
              <a:t>Conventional Retention Strategy </a:t>
            </a:r>
          </a:p>
          <a:p>
            <a:pPr marL="355600" indent="-355600" algn="just">
              <a:lnSpc>
                <a:spcPct val="150000"/>
              </a:lnSpc>
              <a:buNone/>
            </a:pPr>
            <a:r>
              <a:rPr lang="en-IN" dirty="0"/>
              <a:t>❌ Customers contacted after dissatisfaction becomes </a:t>
            </a:r>
            <a:br>
              <a:rPr lang="en-IN" dirty="0"/>
            </a:br>
            <a:r>
              <a:rPr lang="en-IN" dirty="0"/>
              <a:t>visible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dirty="0"/>
              <a:t>❌ No understanding of why customers leave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❌ Same retention campaign for everyone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dirty="0"/>
              <a:t>❌ Marketing budget spent inefficiently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E2B691-ED18-2269-C7C8-933E4BCBC209}"/>
              </a:ext>
            </a:extLst>
          </p:cNvPr>
          <p:cNvSpPr txBox="1"/>
          <p:nvPr/>
        </p:nvSpPr>
        <p:spPr>
          <a:xfrm>
            <a:off x="6329681" y="4152553"/>
            <a:ext cx="5079989" cy="2265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2400" b="1" dirty="0"/>
              <a:t>After Implementing our Strategy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✅ Predicts churn for high-risk customer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✅ Explains churn drivers 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✅ Customer Segmentation possible</a:t>
            </a:r>
          </a:p>
          <a:p>
            <a:pPr marL="355600" indent="-355600" algn="just">
              <a:lnSpc>
                <a:spcPct val="150000"/>
              </a:lnSpc>
            </a:pPr>
            <a:r>
              <a:rPr lang="en-IN" dirty="0"/>
              <a:t>✅ Recommends personalized interventions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25BB0E29-023B-F258-FCF7-398A0CF6FE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4072325"/>
              </p:ext>
            </p:extLst>
          </p:nvPr>
        </p:nvGraphicFramePr>
        <p:xfrm>
          <a:off x="3710940" y="1046481"/>
          <a:ext cx="4770120" cy="296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33D32DF-8215-A1F3-7A3D-65F4F953E316}"/>
              </a:ext>
            </a:extLst>
          </p:cNvPr>
          <p:cNvCxnSpPr>
            <a:cxnSpLocks/>
          </p:cNvCxnSpPr>
          <p:nvPr/>
        </p:nvCxnSpPr>
        <p:spPr>
          <a:xfrm>
            <a:off x="6136640" y="4318000"/>
            <a:ext cx="0" cy="24847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3EEA5E0-5510-F49E-825E-73A2E293A463}"/>
              </a:ext>
            </a:extLst>
          </p:cNvPr>
          <p:cNvSpPr/>
          <p:nvPr/>
        </p:nvSpPr>
        <p:spPr>
          <a:xfrm>
            <a:off x="11868620" y="6548356"/>
            <a:ext cx="255600" cy="254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FC43F9-8A86-2EFF-8F47-6E52A0657A19}"/>
              </a:ext>
            </a:extLst>
          </p:cNvPr>
          <p:cNvSpPr txBox="1"/>
          <p:nvPr/>
        </p:nvSpPr>
        <p:spPr>
          <a:xfrm>
            <a:off x="477520" y="1144336"/>
            <a:ext cx="3535680" cy="369332"/>
          </a:xfrm>
          <a:prstGeom prst="rect">
            <a:avLst/>
          </a:prstGeom>
          <a:noFill/>
          <a:ln>
            <a:noFill/>
          </a:ln>
          <a:effectLst>
            <a:glow rad="101600">
              <a:schemeClr val="tx2">
                <a:lumMod val="25000"/>
                <a:lumOff val="75000"/>
                <a:alpha val="60000"/>
              </a:schemeClr>
            </a:glow>
          </a:effectLst>
        </p:spPr>
        <p:txBody>
          <a:bodyPr wrap="square">
            <a:spAutoFit/>
          </a:bodyPr>
          <a:lstStyle/>
          <a:p>
            <a:pPr lvl="0"/>
            <a:r>
              <a:rPr lang="en-IN" sz="1800" dirty="0"/>
              <a:t>Frame the issue, form hypothesis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4970D9-B1CF-495F-3481-89223F57F115}"/>
              </a:ext>
            </a:extLst>
          </p:cNvPr>
          <p:cNvSpPr txBox="1"/>
          <p:nvPr/>
        </p:nvSpPr>
        <p:spPr>
          <a:xfrm>
            <a:off x="325120" y="3086983"/>
            <a:ext cx="3688080" cy="92333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lvl="0" algn="just"/>
            <a:r>
              <a:rPr lang="en-IN" sz="1800" dirty="0"/>
              <a:t>If successful then </a:t>
            </a:r>
            <a:r>
              <a:rPr lang="en-IN" dirty="0"/>
              <a:t>deploy the model for production</a:t>
            </a:r>
            <a:r>
              <a:rPr lang="en-IN" sz="1800" dirty="0"/>
              <a:t> e</a:t>
            </a:r>
            <a:r>
              <a:rPr lang="en-IN" dirty="0"/>
              <a:t>lse r</a:t>
            </a:r>
            <a:r>
              <a:rPr lang="en-IN" sz="1800" dirty="0"/>
              <a:t>efine the </a:t>
            </a:r>
            <a:r>
              <a:rPr lang="en-IN" dirty="0"/>
              <a:t>s</a:t>
            </a:r>
            <a:r>
              <a:rPr lang="en-IN" sz="1800" dirty="0"/>
              <a:t>trategy, update hypothesis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DB7F54-238E-B360-3BD9-0F80D4ADAFC0}"/>
              </a:ext>
            </a:extLst>
          </p:cNvPr>
          <p:cNvSpPr txBox="1"/>
          <p:nvPr/>
        </p:nvSpPr>
        <p:spPr>
          <a:xfrm>
            <a:off x="8481060" y="3244334"/>
            <a:ext cx="3187700" cy="646331"/>
          </a:xfrm>
          <a:prstGeom prst="rect">
            <a:avLst/>
          </a:prstGeom>
          <a:noFill/>
          <a:ln>
            <a:noFill/>
          </a:ln>
          <a:effectLst>
            <a:glow rad="101600">
              <a:schemeClr val="tx2">
                <a:lumMod val="25000"/>
                <a:lumOff val="75000"/>
                <a:alpha val="60000"/>
              </a:schemeClr>
            </a:glow>
          </a:effectLst>
        </p:spPr>
        <p:txBody>
          <a:bodyPr wrap="square">
            <a:spAutoFit/>
          </a:bodyPr>
          <a:lstStyle/>
          <a:p>
            <a:pPr lvl="0"/>
            <a:r>
              <a:rPr lang="en-IN" sz="1800" dirty="0"/>
              <a:t>Evaluate Results via Metrics like Accuracy, F1score etc.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6537B2-9AB9-7E1B-1FC7-D985C96F7681}"/>
              </a:ext>
            </a:extLst>
          </p:cNvPr>
          <p:cNvSpPr txBox="1"/>
          <p:nvPr/>
        </p:nvSpPr>
        <p:spPr>
          <a:xfrm>
            <a:off x="8481060" y="1144336"/>
            <a:ext cx="3187700" cy="64633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lvl="0"/>
            <a:r>
              <a:rPr lang="en-IN" sz="1800" dirty="0"/>
              <a:t>Do data analysis and train </a:t>
            </a:r>
            <a:r>
              <a:rPr lang="en-IN" dirty="0"/>
              <a:t>the </a:t>
            </a:r>
            <a:r>
              <a:rPr lang="en-IN" sz="1800" dirty="0"/>
              <a:t>model via Machine learning</a:t>
            </a:r>
          </a:p>
        </p:txBody>
      </p:sp>
      <p:sp>
        <p:nvSpPr>
          <p:cNvPr id="29" name="Rectangle: Diagonal Corners Rounded 28">
            <a:extLst>
              <a:ext uri="{FF2B5EF4-FFF2-40B4-BE49-F238E27FC236}">
                <a16:creationId xmlns:a16="http://schemas.microsoft.com/office/drawing/2014/main" id="{6A20AA57-7502-4022-8F73-80991955218B}"/>
              </a:ext>
            </a:extLst>
          </p:cNvPr>
          <p:cNvSpPr/>
          <p:nvPr/>
        </p:nvSpPr>
        <p:spPr>
          <a:xfrm>
            <a:off x="477520" y="1144336"/>
            <a:ext cx="3454400" cy="369332"/>
          </a:xfrm>
          <a:prstGeom prst="round2DiagRect">
            <a:avLst/>
          </a:prstGeom>
          <a:noFill/>
          <a:ln>
            <a:solidFill>
              <a:schemeClr val="tx1"/>
            </a:solidFill>
          </a:ln>
          <a:effectLst>
            <a:glow rad="101600">
              <a:schemeClr val="tx2">
                <a:lumMod val="25000"/>
                <a:lumOff val="75000"/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: Diagonal Corners Rounded 29">
            <a:extLst>
              <a:ext uri="{FF2B5EF4-FFF2-40B4-BE49-F238E27FC236}">
                <a16:creationId xmlns:a16="http://schemas.microsoft.com/office/drawing/2014/main" id="{C3D486BA-A05B-958B-A3C8-645347AA3463}"/>
              </a:ext>
            </a:extLst>
          </p:cNvPr>
          <p:cNvSpPr/>
          <p:nvPr/>
        </p:nvSpPr>
        <p:spPr>
          <a:xfrm>
            <a:off x="325120" y="3086983"/>
            <a:ext cx="3688080" cy="907270"/>
          </a:xfrm>
          <a:prstGeom prst="round2DiagRect">
            <a:avLst/>
          </a:prstGeom>
          <a:noFill/>
          <a:ln>
            <a:solidFill>
              <a:schemeClr val="tx1"/>
            </a:solidFill>
          </a:ln>
          <a:effectLst>
            <a:glow rad="101600">
              <a:schemeClr val="tx2">
                <a:lumMod val="25000"/>
                <a:lumOff val="75000"/>
                <a:alpha val="6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: Diagonal Corners Rounded 30">
            <a:extLst>
              <a:ext uri="{FF2B5EF4-FFF2-40B4-BE49-F238E27FC236}">
                <a16:creationId xmlns:a16="http://schemas.microsoft.com/office/drawing/2014/main" id="{0777C7A9-2D13-C2FA-E265-A62E39566FB0}"/>
              </a:ext>
            </a:extLst>
          </p:cNvPr>
          <p:cNvSpPr/>
          <p:nvPr/>
        </p:nvSpPr>
        <p:spPr>
          <a:xfrm>
            <a:off x="8481060" y="1144336"/>
            <a:ext cx="3187700" cy="646331"/>
          </a:xfrm>
          <a:prstGeom prst="round2DiagRect">
            <a:avLst/>
          </a:prstGeom>
          <a:noFill/>
          <a:ln>
            <a:solidFill>
              <a:schemeClr val="tx1"/>
            </a:solidFill>
          </a:ln>
          <a:effectLst>
            <a:glow rad="101600">
              <a:schemeClr val="tx2">
                <a:lumMod val="25000"/>
                <a:lumOff val="75000"/>
                <a:alpha val="6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: Diagonal Corners Rounded 31">
            <a:extLst>
              <a:ext uri="{FF2B5EF4-FFF2-40B4-BE49-F238E27FC236}">
                <a16:creationId xmlns:a16="http://schemas.microsoft.com/office/drawing/2014/main" id="{63CB58D5-5912-4E98-A7C0-DCA543A4E561}"/>
              </a:ext>
            </a:extLst>
          </p:cNvPr>
          <p:cNvSpPr/>
          <p:nvPr/>
        </p:nvSpPr>
        <p:spPr>
          <a:xfrm>
            <a:off x="8481060" y="3244334"/>
            <a:ext cx="3187700" cy="646331"/>
          </a:xfrm>
          <a:prstGeom prst="round2DiagRect">
            <a:avLst/>
          </a:prstGeom>
          <a:noFill/>
          <a:effectLst>
            <a:glow rad="101600">
              <a:schemeClr val="tx2">
                <a:lumMod val="25000"/>
                <a:lumOff val="75000"/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8E0DF19-B1FD-159D-7E84-694696768A99}"/>
              </a:ext>
            </a:extLst>
          </p:cNvPr>
          <p:cNvCxnSpPr/>
          <p:nvPr/>
        </p:nvCxnSpPr>
        <p:spPr>
          <a:xfrm flipH="1" flipV="1">
            <a:off x="4013200" y="1310640"/>
            <a:ext cx="894080" cy="386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C07374B-B73B-BA1B-88C5-72400521868E}"/>
              </a:ext>
            </a:extLst>
          </p:cNvPr>
          <p:cNvCxnSpPr/>
          <p:nvPr/>
        </p:nvCxnSpPr>
        <p:spPr>
          <a:xfrm flipH="1">
            <a:off x="4135120" y="3244334"/>
            <a:ext cx="660400" cy="311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E70E633-12C7-1F7E-B8CF-3C3E2978C560}"/>
              </a:ext>
            </a:extLst>
          </p:cNvPr>
          <p:cNvCxnSpPr/>
          <p:nvPr/>
        </p:nvCxnSpPr>
        <p:spPr>
          <a:xfrm flipV="1">
            <a:off x="7366000" y="1432560"/>
            <a:ext cx="1016000" cy="358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53F3FF5-BBE3-92A3-1BA3-6E9C49BC155C}"/>
              </a:ext>
            </a:extLst>
          </p:cNvPr>
          <p:cNvCxnSpPr/>
          <p:nvPr/>
        </p:nvCxnSpPr>
        <p:spPr>
          <a:xfrm>
            <a:off x="7366000" y="3244334"/>
            <a:ext cx="1016000" cy="311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719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CE33F-88DB-3B16-52AB-49114282C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DF43F0EB-4731-6E0C-AC1F-6BCA11A5E38B}"/>
              </a:ext>
            </a:extLst>
          </p:cNvPr>
          <p:cNvSpPr txBox="1"/>
          <p:nvPr/>
        </p:nvSpPr>
        <p:spPr>
          <a:xfrm>
            <a:off x="8404774" y="3351259"/>
            <a:ext cx="3726266" cy="3376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Customer churn reduces recurring revenue. </a:t>
            </a:r>
          </a:p>
          <a:p>
            <a:pPr marL="182563" indent="-182563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Network quality issues increase dissatisfaction. </a:t>
            </a:r>
          </a:p>
          <a:p>
            <a:pPr marL="182563" indent="-182563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Revenue decline occurs before customers leave. </a:t>
            </a:r>
          </a:p>
          <a:p>
            <a:pPr marL="182563" indent="-182563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Customer segments are not being targeted effectively.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CFD4371-B2EB-D93F-DFAA-1098E9E869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009857"/>
              </p:ext>
            </p:extLst>
          </p:nvPr>
        </p:nvGraphicFramePr>
        <p:xfrm>
          <a:off x="284942" y="1419865"/>
          <a:ext cx="4033520" cy="219456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692400">
                  <a:extLst>
                    <a:ext uri="{9D8B030D-6E8A-4147-A177-3AD203B41FA5}">
                      <a16:colId xmlns:a16="http://schemas.microsoft.com/office/drawing/2014/main" val="408529972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6051951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Metric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610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Customers(Total rows)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100,000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793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Features (Total Columns)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471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Numerical Features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962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Categorical Features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7201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Target Variable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Churn (0/1)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0506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8234ECF-9DCC-F747-66A3-79F019F15E66}"/>
              </a:ext>
            </a:extLst>
          </p:cNvPr>
          <p:cNvSpPr txBox="1"/>
          <p:nvPr/>
        </p:nvSpPr>
        <p:spPr>
          <a:xfrm>
            <a:off x="173946" y="476867"/>
            <a:ext cx="27318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Dataset Overview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A42933-4369-A6E1-26ED-5986C8061E67}"/>
              </a:ext>
            </a:extLst>
          </p:cNvPr>
          <p:cNvSpPr txBox="1"/>
          <p:nvPr/>
        </p:nvSpPr>
        <p:spPr>
          <a:xfrm>
            <a:off x="4483012" y="362695"/>
            <a:ext cx="3787228" cy="6397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2400" b="1" dirty="0"/>
              <a:t>Imp Data Categories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600" b="1" dirty="0"/>
              <a:t>1. Customer Lifecycle</a:t>
            </a:r>
          </a:p>
          <a:p>
            <a:pPr marL="182563" indent="-18256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months </a:t>
            </a:r>
          </a:p>
          <a:p>
            <a:pPr marL="182563" indent="-18256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equipment days</a:t>
            </a:r>
          </a:p>
          <a:p>
            <a:pPr marL="182563" indent="-18256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Current handset price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600" b="1" dirty="0"/>
              <a:t>2. Usage Behaviour</a:t>
            </a:r>
          </a:p>
          <a:p>
            <a:pPr marL="182563" indent="-182563" algn="just">
              <a:buFont typeface="Arial" panose="020B0604020202020204" pitchFamily="34" charset="0"/>
              <a:buChar char="•"/>
            </a:pPr>
            <a:r>
              <a:rPr lang="en-IN" sz="1600" dirty="0"/>
              <a:t>Mean number of monthly minutes of use</a:t>
            </a:r>
          </a:p>
          <a:p>
            <a:pPr marL="182563" indent="-182563" algn="just">
              <a:buFont typeface="Arial" panose="020B0604020202020204" pitchFamily="34" charset="0"/>
              <a:buChar char="•"/>
            </a:pPr>
            <a:r>
              <a:rPr lang="en-IN" sz="1600" dirty="0"/>
              <a:t>Percentage change in monthly minutes of use vs previous three month average</a:t>
            </a:r>
          </a:p>
          <a:p>
            <a:pPr marL="182563" indent="-18256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Average monthly minutes of use over the life of the customer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600" b="1" dirty="0"/>
              <a:t>3. Revenue &amp; Billing</a:t>
            </a:r>
          </a:p>
          <a:p>
            <a:pPr marL="182563" indent="-18256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Mean monthly revenue</a:t>
            </a:r>
          </a:p>
          <a:p>
            <a:pPr marL="182563" indent="-18256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Mean overage minutes of use</a:t>
            </a:r>
          </a:p>
          <a:p>
            <a:pPr marL="182563" indent="-18256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Mean total monthly recurring charge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600" b="1" dirty="0"/>
              <a:t>4. Customer Demographics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marital, </a:t>
            </a:r>
            <a:r>
              <a:rPr lang="en-IN" sz="1600" dirty="0" err="1"/>
              <a:t>ownrent</a:t>
            </a:r>
            <a:r>
              <a:rPr lang="en-IN" sz="1600" dirty="0"/>
              <a:t>, area, ethnic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9E58DD-9251-FFE0-9918-0587D117F038}"/>
              </a:ext>
            </a:extLst>
          </p:cNvPr>
          <p:cNvSpPr txBox="1"/>
          <p:nvPr/>
        </p:nvSpPr>
        <p:spPr>
          <a:xfrm>
            <a:off x="940993" y="3794243"/>
            <a:ext cx="28482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Target Distribution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710133DB-1EF6-AE15-307A-896E50B592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8538254"/>
              </p:ext>
            </p:extLst>
          </p:nvPr>
        </p:nvGraphicFramePr>
        <p:xfrm>
          <a:off x="193005" y="4255908"/>
          <a:ext cx="4023360" cy="2471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8524B65C-2E3A-FCED-5AB9-9F0716086765}"/>
              </a:ext>
            </a:extLst>
          </p:cNvPr>
          <p:cNvSpPr/>
          <p:nvPr/>
        </p:nvSpPr>
        <p:spPr>
          <a:xfrm>
            <a:off x="11868620" y="6548356"/>
            <a:ext cx="255600" cy="254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6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0E58420-E2DF-2169-6805-F87B9B024917}"/>
              </a:ext>
            </a:extLst>
          </p:cNvPr>
          <p:cNvGrpSpPr/>
          <p:nvPr/>
        </p:nvGrpSpPr>
        <p:grpSpPr>
          <a:xfrm>
            <a:off x="20320" y="81280"/>
            <a:ext cx="12110720" cy="375920"/>
            <a:chOff x="436880" y="101600"/>
            <a:chExt cx="11684000" cy="589280"/>
          </a:xfrm>
        </p:grpSpPr>
        <p:sp>
          <p:nvSpPr>
            <p:cNvPr id="19" name="Arrow: Chevron 18">
              <a:extLst>
                <a:ext uri="{FF2B5EF4-FFF2-40B4-BE49-F238E27FC236}">
                  <a16:creationId xmlns:a16="http://schemas.microsoft.com/office/drawing/2014/main" id="{CC63BD1B-C08D-5CCC-3477-6F1EAA4C8C83}"/>
                </a:ext>
              </a:extLst>
            </p:cNvPr>
            <p:cNvSpPr/>
            <p:nvPr/>
          </p:nvSpPr>
          <p:spPr>
            <a:xfrm>
              <a:off x="436880" y="101600"/>
              <a:ext cx="2783840" cy="589280"/>
            </a:xfrm>
            <a:prstGeom prst="chevron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tx1"/>
                  </a:solidFill>
                </a:rPr>
                <a:t>PLAN</a:t>
              </a:r>
            </a:p>
          </p:txBody>
        </p:sp>
        <p:sp>
          <p:nvSpPr>
            <p:cNvPr id="20" name="Arrow: Chevron 19">
              <a:extLst>
                <a:ext uri="{FF2B5EF4-FFF2-40B4-BE49-F238E27FC236}">
                  <a16:creationId xmlns:a16="http://schemas.microsoft.com/office/drawing/2014/main" id="{0F71ED5D-DC56-08F1-9DF1-96E709897AE7}"/>
                </a:ext>
              </a:extLst>
            </p:cNvPr>
            <p:cNvSpPr/>
            <p:nvPr/>
          </p:nvSpPr>
          <p:spPr>
            <a:xfrm>
              <a:off x="3403600" y="101600"/>
              <a:ext cx="2783840" cy="589280"/>
            </a:xfrm>
            <a:prstGeom prst="chevron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tx1"/>
                  </a:solidFill>
                </a:rPr>
                <a:t>DO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21" name="Arrow: Chevron 20">
              <a:extLst>
                <a:ext uri="{FF2B5EF4-FFF2-40B4-BE49-F238E27FC236}">
                  <a16:creationId xmlns:a16="http://schemas.microsoft.com/office/drawing/2014/main" id="{A9DA2EED-BBCF-DC3E-E72C-0359DD9D64A5}"/>
                </a:ext>
              </a:extLst>
            </p:cNvPr>
            <p:cNvSpPr/>
            <p:nvPr/>
          </p:nvSpPr>
          <p:spPr>
            <a:xfrm>
              <a:off x="6370320" y="101600"/>
              <a:ext cx="2783840" cy="589280"/>
            </a:xfrm>
            <a:prstGeom prst="chevron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tx1"/>
                  </a:solidFill>
                </a:rPr>
                <a:t>CHECK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Arrow: Chevron 21">
              <a:extLst>
                <a:ext uri="{FF2B5EF4-FFF2-40B4-BE49-F238E27FC236}">
                  <a16:creationId xmlns:a16="http://schemas.microsoft.com/office/drawing/2014/main" id="{D0C2B1B1-6FD4-55AE-6915-53FBFA0FF082}"/>
                </a:ext>
              </a:extLst>
            </p:cNvPr>
            <p:cNvSpPr/>
            <p:nvPr/>
          </p:nvSpPr>
          <p:spPr>
            <a:xfrm>
              <a:off x="9337040" y="101600"/>
              <a:ext cx="2783840" cy="589280"/>
            </a:xfrm>
            <a:prstGeom prst="chevron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tx1"/>
                  </a:solidFill>
                </a:rPr>
                <a:t>ACT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ACA4CEE4-283D-BBE0-8C70-948F78FE3148}"/>
              </a:ext>
            </a:extLst>
          </p:cNvPr>
          <p:cNvSpPr txBox="1"/>
          <p:nvPr/>
        </p:nvSpPr>
        <p:spPr>
          <a:xfrm>
            <a:off x="169343" y="951231"/>
            <a:ext cx="32681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/>
              <a:t>Company A Telecom Dataset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275E7B4-8BF5-D112-FD31-145AB98E890C}"/>
              </a:ext>
            </a:extLst>
          </p:cNvPr>
          <p:cNvCxnSpPr>
            <a:cxnSpLocks/>
          </p:cNvCxnSpPr>
          <p:nvPr/>
        </p:nvCxnSpPr>
        <p:spPr>
          <a:xfrm>
            <a:off x="4460240" y="497840"/>
            <a:ext cx="0" cy="62820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C61D0D5-EDD2-AA9F-9093-B65ACC17B704}"/>
              </a:ext>
            </a:extLst>
          </p:cNvPr>
          <p:cNvSpPr txBox="1"/>
          <p:nvPr/>
        </p:nvSpPr>
        <p:spPr>
          <a:xfrm>
            <a:off x="8337435" y="362695"/>
            <a:ext cx="3787227" cy="593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/>
              <a:t>Potential Hypothesis </a:t>
            </a:r>
            <a:endParaRPr lang="en-IN" sz="240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8AD09-95C2-3950-E724-999D1EAC0CA4}"/>
              </a:ext>
            </a:extLst>
          </p:cNvPr>
          <p:cNvCxnSpPr>
            <a:cxnSpLocks/>
          </p:cNvCxnSpPr>
          <p:nvPr/>
        </p:nvCxnSpPr>
        <p:spPr>
          <a:xfrm>
            <a:off x="8297345" y="497840"/>
            <a:ext cx="0" cy="62820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Free business and finance icons">
            <a:extLst>
              <a:ext uri="{FF2B5EF4-FFF2-40B4-BE49-F238E27FC236}">
                <a16:creationId xmlns:a16="http://schemas.microsoft.com/office/drawing/2014/main" id="{74B1F598-C2E1-B39C-9715-8C3DE805A8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9485" y="113589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933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DBC44531-C986-3B04-CF16-CCAFD31D5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0618" y="1405024"/>
            <a:ext cx="3219202" cy="249430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B602FD6-77F6-FF13-13AD-7512178B2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880" y="3900661"/>
            <a:ext cx="3281360" cy="2741091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81B23FD1-6FC7-8E1C-7ABC-EEC28FCF5625}"/>
              </a:ext>
            </a:extLst>
          </p:cNvPr>
          <p:cNvGrpSpPr/>
          <p:nvPr/>
        </p:nvGrpSpPr>
        <p:grpSpPr>
          <a:xfrm>
            <a:off x="20320" y="81280"/>
            <a:ext cx="12110720" cy="375920"/>
            <a:chOff x="436880" y="101600"/>
            <a:chExt cx="11684000" cy="589280"/>
          </a:xfrm>
        </p:grpSpPr>
        <p:sp>
          <p:nvSpPr>
            <p:cNvPr id="10" name="Arrow: Chevron 9">
              <a:extLst>
                <a:ext uri="{FF2B5EF4-FFF2-40B4-BE49-F238E27FC236}">
                  <a16:creationId xmlns:a16="http://schemas.microsoft.com/office/drawing/2014/main" id="{434A0503-3231-6FF6-B5C5-0C37CE84E166}"/>
                </a:ext>
              </a:extLst>
            </p:cNvPr>
            <p:cNvSpPr/>
            <p:nvPr/>
          </p:nvSpPr>
          <p:spPr>
            <a:xfrm>
              <a:off x="436880" y="101600"/>
              <a:ext cx="2783840" cy="589280"/>
            </a:xfrm>
            <a:prstGeom prst="chevron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tx1"/>
                  </a:solidFill>
                </a:rPr>
                <a:t>PLAN</a:t>
              </a:r>
            </a:p>
          </p:txBody>
        </p:sp>
        <p:sp>
          <p:nvSpPr>
            <p:cNvPr id="12" name="Arrow: Chevron 11">
              <a:extLst>
                <a:ext uri="{FF2B5EF4-FFF2-40B4-BE49-F238E27FC236}">
                  <a16:creationId xmlns:a16="http://schemas.microsoft.com/office/drawing/2014/main" id="{D1B2E01E-FEF0-456C-91F8-365CF5F0E1B4}"/>
                </a:ext>
              </a:extLst>
            </p:cNvPr>
            <p:cNvSpPr/>
            <p:nvPr/>
          </p:nvSpPr>
          <p:spPr>
            <a:xfrm>
              <a:off x="3403600" y="101600"/>
              <a:ext cx="2783840" cy="589280"/>
            </a:xfrm>
            <a:prstGeom prst="chevron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tx1"/>
                  </a:solidFill>
                </a:rPr>
                <a:t>DO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Arrow: Chevron 13">
              <a:extLst>
                <a:ext uri="{FF2B5EF4-FFF2-40B4-BE49-F238E27FC236}">
                  <a16:creationId xmlns:a16="http://schemas.microsoft.com/office/drawing/2014/main" id="{2C06E847-C9FE-58C7-F63D-E7A060D47E34}"/>
                </a:ext>
              </a:extLst>
            </p:cNvPr>
            <p:cNvSpPr/>
            <p:nvPr/>
          </p:nvSpPr>
          <p:spPr>
            <a:xfrm>
              <a:off x="6370320" y="101600"/>
              <a:ext cx="2783840" cy="589280"/>
            </a:xfrm>
            <a:prstGeom prst="chevron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tx1"/>
                  </a:solidFill>
                </a:rPr>
                <a:t>CHECK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16" name="Arrow: Chevron 15">
              <a:extLst>
                <a:ext uri="{FF2B5EF4-FFF2-40B4-BE49-F238E27FC236}">
                  <a16:creationId xmlns:a16="http://schemas.microsoft.com/office/drawing/2014/main" id="{C7E543C2-787E-72F5-020D-86AC602DF67F}"/>
                </a:ext>
              </a:extLst>
            </p:cNvPr>
            <p:cNvSpPr/>
            <p:nvPr/>
          </p:nvSpPr>
          <p:spPr>
            <a:xfrm>
              <a:off x="9337040" y="101600"/>
              <a:ext cx="2783840" cy="589280"/>
            </a:xfrm>
            <a:prstGeom prst="chevron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tx1"/>
                  </a:solidFill>
                </a:rPr>
                <a:t>ACT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D66725CB-9889-47C6-B4F6-97E1C4CE59A3}"/>
              </a:ext>
            </a:extLst>
          </p:cNvPr>
          <p:cNvSpPr txBox="1"/>
          <p:nvPr/>
        </p:nvSpPr>
        <p:spPr>
          <a:xfrm>
            <a:off x="44850" y="641094"/>
            <a:ext cx="73211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Keys Findings from Exploratory Data Analysis (EDA)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B1A553-11BF-AE05-F0B5-3B4F48A62615}"/>
              </a:ext>
            </a:extLst>
          </p:cNvPr>
          <p:cNvSpPr txBox="1"/>
          <p:nvPr/>
        </p:nvSpPr>
        <p:spPr>
          <a:xfrm>
            <a:off x="121378" y="1407982"/>
            <a:ext cx="4114000" cy="646331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Finding 1</a:t>
            </a:r>
          </a:p>
          <a:p>
            <a:pPr>
              <a:buNone/>
            </a:pPr>
            <a:r>
              <a:rPr lang="en-IN" dirty="0"/>
              <a:t>📱 Older devices increase churn risk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4D02EA-69E6-3600-2DC6-BA04CC401293}"/>
              </a:ext>
            </a:extLst>
          </p:cNvPr>
          <p:cNvSpPr txBox="1"/>
          <p:nvPr/>
        </p:nvSpPr>
        <p:spPr>
          <a:xfrm>
            <a:off x="121378" y="2400338"/>
            <a:ext cx="4680340" cy="646331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Finding 2</a:t>
            </a:r>
          </a:p>
          <a:p>
            <a:pPr>
              <a:buNone/>
            </a:pPr>
            <a:r>
              <a:rPr lang="en-IN" dirty="0"/>
              <a:t>📉 Declining usage is an early warning signal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23A723-E7E6-047F-64E6-514248A923C0}"/>
              </a:ext>
            </a:extLst>
          </p:cNvPr>
          <p:cNvSpPr txBox="1"/>
          <p:nvPr/>
        </p:nvSpPr>
        <p:spPr>
          <a:xfrm>
            <a:off x="127760" y="3458112"/>
            <a:ext cx="4543260" cy="646331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Finding 3</a:t>
            </a:r>
          </a:p>
          <a:p>
            <a:pPr>
              <a:buNone/>
            </a:pPr>
            <a:r>
              <a:rPr lang="en-IN" dirty="0"/>
              <a:t>📱 Premium handset users are more loyal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526EAE-E702-9EB4-9F69-A8A39F0B26DA}"/>
              </a:ext>
            </a:extLst>
          </p:cNvPr>
          <p:cNvSpPr txBox="1"/>
          <p:nvPr/>
        </p:nvSpPr>
        <p:spPr>
          <a:xfrm>
            <a:off x="121378" y="4505533"/>
            <a:ext cx="4852270" cy="646331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Finding 4</a:t>
            </a:r>
          </a:p>
          <a:p>
            <a:pPr>
              <a:buNone/>
            </a:pPr>
            <a:r>
              <a:rPr lang="en-IN" dirty="0"/>
              <a:t>💰 Higher overage charges contribute to churn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8CCD21-B237-5A86-FE1C-587F866B71CE}"/>
              </a:ext>
            </a:extLst>
          </p:cNvPr>
          <p:cNvSpPr txBox="1"/>
          <p:nvPr/>
        </p:nvSpPr>
        <p:spPr>
          <a:xfrm>
            <a:off x="121378" y="5563307"/>
            <a:ext cx="4336029" cy="646331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Finding 5</a:t>
            </a:r>
          </a:p>
          <a:p>
            <a:pPr>
              <a:buNone/>
            </a:pPr>
            <a:r>
              <a:rPr lang="en-IN" dirty="0"/>
              <a:t>🔄 Long-tenure customers can still churn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5D998CF-A7E7-7729-5DAE-C4B24DD4A8C8}"/>
              </a:ext>
            </a:extLst>
          </p:cNvPr>
          <p:cNvSpPr/>
          <p:nvPr/>
        </p:nvSpPr>
        <p:spPr>
          <a:xfrm>
            <a:off x="11868620" y="6548356"/>
            <a:ext cx="255600" cy="254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7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F6072E3A-0219-B601-5B46-0F97F9FADC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9418" y="1405024"/>
            <a:ext cx="3219202" cy="249430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3AE7D2B-4B19-FA08-3BAC-A6A01A9ED2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5231" y="3900661"/>
            <a:ext cx="3538943" cy="274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208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802DB-5821-4148-6776-87511B2D6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AE1E47-23AC-C46D-721D-0EF1EBC46D7A}"/>
              </a:ext>
            </a:extLst>
          </p:cNvPr>
          <p:cNvSpPr txBox="1"/>
          <p:nvPr/>
        </p:nvSpPr>
        <p:spPr>
          <a:xfrm>
            <a:off x="114825" y="62064"/>
            <a:ext cx="85750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Existing Industry Solutions &amp; Gap Analysis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D50DB-5100-CAD7-9326-FF94300019FC}"/>
              </a:ext>
            </a:extLst>
          </p:cNvPr>
          <p:cNvSpPr txBox="1"/>
          <p:nvPr/>
        </p:nvSpPr>
        <p:spPr>
          <a:xfrm>
            <a:off x="903736" y="3165237"/>
            <a:ext cx="43384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Generic Retention Campaigns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736C51-68E1-5FB4-9284-7C34523E64A8}"/>
              </a:ext>
            </a:extLst>
          </p:cNvPr>
          <p:cNvSpPr/>
          <p:nvPr/>
        </p:nvSpPr>
        <p:spPr>
          <a:xfrm>
            <a:off x="11682920" y="6525836"/>
            <a:ext cx="398095" cy="207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8</a:t>
            </a:r>
          </a:p>
        </p:txBody>
      </p:sp>
      <p:pic>
        <p:nvPicPr>
          <p:cNvPr id="20" name="Picture 19" descr="New Verizon Logo Pack">
            <a:extLst>
              <a:ext uri="{FF2B5EF4-FFF2-40B4-BE49-F238E27FC236}">
                <a16:creationId xmlns:a16="http://schemas.microsoft.com/office/drawing/2014/main" id="{5C9B3347-55D8-F620-549B-C0637380B9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67" t="33967" r="5800" b="30510"/>
          <a:stretch>
            <a:fillRect/>
          </a:stretch>
        </p:blipFill>
        <p:spPr>
          <a:xfrm>
            <a:off x="2400492" y="708088"/>
            <a:ext cx="1280160" cy="393690"/>
          </a:xfrm>
          <a:prstGeom prst="rect">
            <a:avLst/>
          </a:prstGeom>
        </p:spPr>
      </p:pic>
      <p:pic>
        <p:nvPicPr>
          <p:cNvPr id="22" name="Picture 21" descr="चित्र:AT&amp;T logo 2016.svg - विकिपिडिया">
            <a:extLst>
              <a:ext uri="{FF2B5EF4-FFF2-40B4-BE49-F238E27FC236}">
                <a16:creationId xmlns:a16="http://schemas.microsoft.com/office/drawing/2014/main" id="{777D4C6E-8537-C1DA-C3EA-B499FE59E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751" y="751241"/>
            <a:ext cx="1143000" cy="47029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00495A4-AE55-939C-E75A-A04903586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055" y="1876076"/>
            <a:ext cx="746392" cy="74058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AD10C32-8ACE-B73C-B6B1-4FF9BB3433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0492" y="2391777"/>
            <a:ext cx="1365928" cy="618008"/>
          </a:xfrm>
          <a:prstGeom prst="rect">
            <a:avLst/>
          </a:prstGeom>
        </p:spPr>
      </p:pic>
      <p:pic>
        <p:nvPicPr>
          <p:cNvPr id="32" name="Picture 31" descr="Jio - Wikipedia">
            <a:extLst>
              <a:ext uri="{FF2B5EF4-FFF2-40B4-BE49-F238E27FC236}">
                <a16:creationId xmlns:a16="http://schemas.microsoft.com/office/drawing/2014/main" id="{E229411B-D486-6D33-231A-A486191518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1122" y="1873172"/>
            <a:ext cx="746391" cy="74639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F40293C-F453-AFB4-9C69-2EDCA6609939}"/>
              </a:ext>
            </a:extLst>
          </p:cNvPr>
          <p:cNvSpPr txBox="1"/>
          <p:nvPr/>
        </p:nvSpPr>
        <p:spPr>
          <a:xfrm>
            <a:off x="2088769" y="1386639"/>
            <a:ext cx="19818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000" b="1" dirty="0"/>
              <a:t>Major Telecom Operators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E315009-7B6C-1AA5-3F81-E0128BEFE82D}"/>
              </a:ext>
            </a:extLst>
          </p:cNvPr>
          <p:cNvCxnSpPr/>
          <p:nvPr/>
        </p:nvCxnSpPr>
        <p:spPr>
          <a:xfrm>
            <a:off x="6096000" y="659189"/>
            <a:ext cx="0" cy="61988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DF279C8-4033-D2D0-4337-F16F22B26143}"/>
              </a:ext>
            </a:extLst>
          </p:cNvPr>
          <p:cNvSpPr txBox="1"/>
          <p:nvPr/>
        </p:nvSpPr>
        <p:spPr>
          <a:xfrm>
            <a:off x="7542542" y="868924"/>
            <a:ext cx="3119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Current Industry Gap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206F156-048F-0EC5-E1E3-274D3048AD77}"/>
              </a:ext>
            </a:extLst>
          </p:cNvPr>
          <p:cNvGrpSpPr/>
          <p:nvPr/>
        </p:nvGrpSpPr>
        <p:grpSpPr>
          <a:xfrm>
            <a:off x="6495298" y="1895340"/>
            <a:ext cx="5310662" cy="3965985"/>
            <a:chOff x="6248406" y="1928689"/>
            <a:chExt cx="5310662" cy="3965985"/>
          </a:xfr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0F4F6DB3-BDA5-4D22-30B6-6D74AB623480}"/>
                </a:ext>
              </a:extLst>
            </p:cNvPr>
            <p:cNvSpPr/>
            <p:nvPr/>
          </p:nvSpPr>
          <p:spPr>
            <a:xfrm>
              <a:off x="7066280" y="4760590"/>
              <a:ext cx="3596640" cy="1134084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None/>
              </a:pPr>
              <a:r>
                <a:rPr lang="en-IN" b="1" dirty="0">
                  <a:solidFill>
                    <a:schemeClr val="tx1"/>
                  </a:solidFill>
                </a:rPr>
                <a:t>And Rarely Recommend</a:t>
              </a:r>
            </a:p>
            <a:p>
              <a:r>
                <a:rPr lang="en-IN" dirty="0">
                  <a:solidFill>
                    <a:schemeClr val="tx1"/>
                  </a:solidFill>
                  <a:latin typeface="Courier New" panose="02070309020205020404" pitchFamily="49" charset="0"/>
                </a:rPr>
                <a:t>WHAT action should be taken?</a:t>
              </a:r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3DFE7711-4B81-63D6-6000-30DDD2960F31}"/>
                </a:ext>
              </a:extLst>
            </p:cNvPr>
            <p:cNvSpPr/>
            <p:nvPr/>
          </p:nvSpPr>
          <p:spPr>
            <a:xfrm>
              <a:off x="7066280" y="3312414"/>
              <a:ext cx="3596640" cy="1134084"/>
            </a:xfrm>
            <a:prstGeom prst="roundRect">
              <a:avLst/>
            </a:prstGeom>
            <a:solidFill>
              <a:srgbClr val="FFFF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None/>
              </a:pPr>
              <a:r>
                <a:rPr lang="en-IN" b="1" dirty="0">
                  <a:solidFill>
                    <a:schemeClr val="tx1"/>
                  </a:solidFill>
                </a:rPr>
                <a:t>But They Often Do Not Explain</a:t>
              </a:r>
            </a:p>
            <a:p>
              <a:r>
                <a:rPr lang="en-IN" dirty="0">
                  <a:solidFill>
                    <a:schemeClr val="tx1"/>
                  </a:solidFill>
                  <a:latin typeface="Courier New" panose="02070309020205020404" pitchFamily="49" charset="0"/>
                </a:rPr>
                <a:t>WHY will the customer churn?</a:t>
              </a:r>
            </a:p>
          </p:txBody>
        </p:sp>
        <p:sp>
          <p:nvSpPr>
            <p:cNvPr id="47" name="Arrow: Curved Left 46">
              <a:extLst>
                <a:ext uri="{FF2B5EF4-FFF2-40B4-BE49-F238E27FC236}">
                  <a16:creationId xmlns:a16="http://schemas.microsoft.com/office/drawing/2014/main" id="{2DBAB9E7-855D-7BFC-7207-25AC78EC8E82}"/>
                </a:ext>
              </a:extLst>
            </p:cNvPr>
            <p:cNvSpPr/>
            <p:nvPr/>
          </p:nvSpPr>
          <p:spPr>
            <a:xfrm>
              <a:off x="10659926" y="2363037"/>
              <a:ext cx="899142" cy="1726152"/>
            </a:xfrm>
            <a:prstGeom prst="curvedLeftArrow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6EF02DFC-B6B9-8F9B-4EE8-BF37BE7FDC43}"/>
                </a:ext>
              </a:extLst>
            </p:cNvPr>
            <p:cNvSpPr/>
            <p:nvPr/>
          </p:nvSpPr>
          <p:spPr>
            <a:xfrm>
              <a:off x="7072269" y="1928689"/>
              <a:ext cx="3596640" cy="1134084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None/>
              </a:pPr>
              <a:r>
                <a:rPr lang="en-IN" b="1" dirty="0">
                  <a:solidFill>
                    <a:schemeClr val="tx1"/>
                  </a:solidFill>
                </a:rPr>
                <a:t>Most Existing Systems Answer</a:t>
              </a:r>
            </a:p>
            <a:p>
              <a:r>
                <a:rPr lang="en-IN" dirty="0">
                  <a:solidFill>
                    <a:schemeClr val="tx1"/>
                  </a:solidFill>
                  <a:latin typeface="Courier New" panose="02070309020205020404" pitchFamily="49" charset="0"/>
                </a:rPr>
                <a:t>WHO is likely to churn?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48" name="Arrow: Curved Right 47">
              <a:extLst>
                <a:ext uri="{FF2B5EF4-FFF2-40B4-BE49-F238E27FC236}">
                  <a16:creationId xmlns:a16="http://schemas.microsoft.com/office/drawing/2014/main" id="{F5B26872-9F75-0289-477F-3443E03E0EEA}"/>
                </a:ext>
              </a:extLst>
            </p:cNvPr>
            <p:cNvSpPr/>
            <p:nvPr/>
          </p:nvSpPr>
          <p:spPr>
            <a:xfrm>
              <a:off x="6248406" y="3881120"/>
              <a:ext cx="817874" cy="1726152"/>
            </a:xfrm>
            <a:prstGeom prst="curvedRightArrow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DC5792B7-E741-4318-6AD9-D85DB34E5069}"/>
              </a:ext>
            </a:extLst>
          </p:cNvPr>
          <p:cNvGrpSpPr/>
          <p:nvPr/>
        </p:nvGrpSpPr>
        <p:grpSpPr>
          <a:xfrm>
            <a:off x="698868" y="3711724"/>
            <a:ext cx="2123412" cy="1495440"/>
            <a:chOff x="193040" y="3687720"/>
            <a:chExt cx="2207452" cy="1495440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90ADF4C2-95E3-0A71-9725-819F3FC80FF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3381" y="3687720"/>
              <a:ext cx="1032472" cy="556308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68455619-E573-BB55-2072-238BBD719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10090" y="3687720"/>
              <a:ext cx="990402" cy="556308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4F6647B-8A5E-3320-191C-0B22D2D57990}"/>
                </a:ext>
              </a:extLst>
            </p:cNvPr>
            <p:cNvSpPr txBox="1"/>
            <p:nvPr/>
          </p:nvSpPr>
          <p:spPr>
            <a:xfrm>
              <a:off x="193040" y="4352163"/>
              <a:ext cx="2207451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IN" sz="1200" b="1" dirty="0"/>
                <a:t>Device Upgrade Programs </a:t>
              </a:r>
              <a:r>
                <a:rPr lang="en-IN" sz="1200" dirty="0"/>
                <a:t>Handset replacement offers, Trade-in incentives, Device financing plans </a:t>
              </a:r>
            </a:p>
          </p:txBody>
        </p:sp>
      </p:grpSp>
      <p:pic>
        <p:nvPicPr>
          <p:cNvPr id="57" name="Picture 56" descr="China Mobile Logo and symbol, meaning, history, PNG, brand">
            <a:extLst>
              <a:ext uri="{FF2B5EF4-FFF2-40B4-BE49-F238E27FC236}">
                <a16:creationId xmlns:a16="http://schemas.microsoft.com/office/drawing/2014/main" id="{22F3169F-0EDD-D43E-1D76-562653D816F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07284" y="751241"/>
            <a:ext cx="1492294" cy="836589"/>
          </a:xfrm>
          <a:prstGeom prst="rect">
            <a:avLst/>
          </a:prstGeom>
        </p:spPr>
      </p:pic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A1FEE054-5126-9AA1-7770-86F208551811}"/>
              </a:ext>
            </a:extLst>
          </p:cNvPr>
          <p:cNvSpPr/>
          <p:nvPr/>
        </p:nvSpPr>
        <p:spPr>
          <a:xfrm>
            <a:off x="2088769" y="1386639"/>
            <a:ext cx="1968394" cy="74058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2A70675-E4E9-27F7-9834-BE14007923DA}"/>
              </a:ext>
            </a:extLst>
          </p:cNvPr>
          <p:cNvCxnSpPr>
            <a:cxnSpLocks/>
            <a:endCxn id="22" idx="3"/>
          </p:cNvCxnSpPr>
          <p:nvPr/>
        </p:nvCxnSpPr>
        <p:spPr>
          <a:xfrm flipH="1" flipV="1">
            <a:off x="1436751" y="986390"/>
            <a:ext cx="727063" cy="4320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E3DB362-1E6B-A37F-ADF8-878156F539DB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3040572" y="1101778"/>
            <a:ext cx="0" cy="2410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5A1FE17-6718-6001-759D-FFA31B504CA3}"/>
              </a:ext>
            </a:extLst>
          </p:cNvPr>
          <p:cNvCxnSpPr>
            <a:cxnSpLocks/>
            <a:endCxn id="30" idx="3"/>
          </p:cNvCxnSpPr>
          <p:nvPr/>
        </p:nvCxnSpPr>
        <p:spPr>
          <a:xfrm flipH="1">
            <a:off x="1252447" y="2056558"/>
            <a:ext cx="836322" cy="189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74E8E051-3E44-2D88-9D6B-D8047A7023AA}"/>
              </a:ext>
            </a:extLst>
          </p:cNvPr>
          <p:cNvCxnSpPr>
            <a:stCxn id="58" idx="2"/>
            <a:endCxn id="31" idx="0"/>
          </p:cNvCxnSpPr>
          <p:nvPr/>
        </p:nvCxnSpPr>
        <p:spPr>
          <a:xfrm>
            <a:off x="3072966" y="2127222"/>
            <a:ext cx="10490" cy="264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6456472-98F0-BAA7-A184-F906BB362D51}"/>
              </a:ext>
            </a:extLst>
          </p:cNvPr>
          <p:cNvCxnSpPr>
            <a:endCxn id="57" idx="1"/>
          </p:cNvCxnSpPr>
          <p:nvPr/>
        </p:nvCxnSpPr>
        <p:spPr>
          <a:xfrm flipV="1">
            <a:off x="4057163" y="1169536"/>
            <a:ext cx="250121" cy="2488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3EB9ACA-D857-21ED-59B9-CB337F0FBCE8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4016251" y="2094525"/>
            <a:ext cx="824871" cy="1518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4595016-8000-85A0-3121-72B9545A346A}"/>
              </a:ext>
            </a:extLst>
          </p:cNvPr>
          <p:cNvGrpSpPr/>
          <p:nvPr/>
        </p:nvGrpSpPr>
        <p:grpSpPr>
          <a:xfrm>
            <a:off x="3224171" y="3711724"/>
            <a:ext cx="2263243" cy="1490473"/>
            <a:chOff x="274614" y="3699709"/>
            <a:chExt cx="2077112" cy="1912230"/>
          </a:xfrm>
        </p:grpSpPr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D817CEE3-281E-8FE0-FFC1-6306D10905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67623" y="3711700"/>
              <a:ext cx="993632" cy="724751"/>
            </a:xfrm>
            <a:prstGeom prst="rect">
              <a:avLst/>
            </a:prstGeom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AC6DC941-8066-43EC-4F04-CB46D17D1B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400661" y="3699709"/>
              <a:ext cx="949449" cy="724751"/>
            </a:xfrm>
            <a:prstGeom prst="rect">
              <a:avLst/>
            </a:prstGeom>
          </p:spPr>
        </p:pic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BF4C8A6-5D3D-D132-5444-C419904EB68D}"/>
                </a:ext>
              </a:extLst>
            </p:cNvPr>
            <p:cNvSpPr txBox="1"/>
            <p:nvPr/>
          </p:nvSpPr>
          <p:spPr>
            <a:xfrm>
              <a:off x="274614" y="4545796"/>
              <a:ext cx="2077112" cy="10661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IN" sz="1200" b="1" dirty="0"/>
                <a:t>Loyalty &amp; Rewards Programs </a:t>
              </a:r>
              <a:r>
                <a:rPr lang="en-IN" sz="1200" dirty="0"/>
                <a:t>Long-tenure customer benefits, Premium membership rewards, Exclusive discounts </a:t>
              </a: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2F43FE9F-E1A5-9E2D-B197-1543793B3166}"/>
              </a:ext>
            </a:extLst>
          </p:cNvPr>
          <p:cNvGrpSpPr/>
          <p:nvPr/>
        </p:nvGrpSpPr>
        <p:grpSpPr>
          <a:xfrm>
            <a:off x="824248" y="5294283"/>
            <a:ext cx="1998028" cy="1381589"/>
            <a:chOff x="596514" y="5253677"/>
            <a:chExt cx="1998028" cy="1381589"/>
          </a:xfrm>
        </p:grpSpPr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981C1185-77D4-F78C-2D3C-5CE1A1C135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96514" y="5253677"/>
              <a:ext cx="1998028" cy="518205"/>
            </a:xfrm>
            <a:prstGeom prst="rect">
              <a:avLst/>
            </a:prstGeom>
          </p:spPr>
        </p:pic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00FCE71-188D-CC68-CBBF-78A4314FC0F9}"/>
                </a:ext>
              </a:extLst>
            </p:cNvPr>
            <p:cNvSpPr txBox="1"/>
            <p:nvPr/>
          </p:nvSpPr>
          <p:spPr>
            <a:xfrm>
              <a:off x="617049" y="5804269"/>
              <a:ext cx="192040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200" b="1" dirty="0"/>
                <a:t>Personalized Pricing </a:t>
              </a:r>
              <a:r>
                <a:rPr lang="en-IN" sz="1200" dirty="0"/>
                <a:t>Customized plans, Discounted bundles, Family packages </a:t>
              </a: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03D934CA-1FAF-2F5F-1690-1DADC2BC8ED0}"/>
              </a:ext>
            </a:extLst>
          </p:cNvPr>
          <p:cNvGrpSpPr/>
          <p:nvPr/>
        </p:nvGrpSpPr>
        <p:grpSpPr>
          <a:xfrm>
            <a:off x="3224171" y="5305557"/>
            <a:ext cx="2485264" cy="1179248"/>
            <a:chOff x="3462525" y="5269582"/>
            <a:chExt cx="2485264" cy="1179248"/>
          </a:xfrm>
        </p:grpSpPr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7D268DB5-1D36-64BF-980F-D3A400DF52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557396" y="5269582"/>
              <a:ext cx="2166607" cy="510584"/>
            </a:xfrm>
            <a:prstGeom prst="rect">
              <a:avLst/>
            </a:prstGeom>
          </p:spPr>
        </p:pic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75501CD-9D17-DC46-E59F-8AD335059AD1}"/>
                </a:ext>
              </a:extLst>
            </p:cNvPr>
            <p:cNvSpPr txBox="1"/>
            <p:nvPr/>
          </p:nvSpPr>
          <p:spPr>
            <a:xfrm>
              <a:off x="3462525" y="5802499"/>
              <a:ext cx="248526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200" b="1" dirty="0"/>
                <a:t>Customer Experience Monitoring </a:t>
              </a:r>
              <a:r>
                <a:rPr lang="en-IN" sz="1200" dirty="0"/>
                <a:t>NPS surveys Customer support tracking Complaint management</a:t>
              </a:r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115F2699-CA12-CA4B-625F-075CCC5E6ABA}"/>
              </a:ext>
            </a:extLst>
          </p:cNvPr>
          <p:cNvSpPr txBox="1"/>
          <p:nvPr/>
        </p:nvSpPr>
        <p:spPr>
          <a:xfrm>
            <a:off x="597393" y="6595209"/>
            <a:ext cx="52021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dirty="0" err="1"/>
              <a:t>Also,Cross</a:t>
            </a:r>
            <a:r>
              <a:rPr lang="en-IN" sz="1200" dirty="0"/>
              <a:t>-selling OTT contents like Netflix, Amazon, </a:t>
            </a:r>
            <a:r>
              <a:rPr lang="en-IN" sz="1200" dirty="0" err="1"/>
              <a:t>JioHotstar</a:t>
            </a:r>
            <a:endParaRPr lang="en-IN" sz="1200" dirty="0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E2E5778-45AF-90B4-C950-7A055F9D2BCB}"/>
              </a:ext>
            </a:extLst>
          </p:cNvPr>
          <p:cNvCxnSpPr>
            <a:cxnSpLocks/>
          </p:cNvCxnSpPr>
          <p:nvPr/>
        </p:nvCxnSpPr>
        <p:spPr>
          <a:xfrm>
            <a:off x="3040572" y="3711724"/>
            <a:ext cx="0" cy="27730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8FDA2ED-1ABD-6AD1-51F7-C7A6546FD80B}"/>
              </a:ext>
            </a:extLst>
          </p:cNvPr>
          <p:cNvCxnSpPr/>
          <p:nvPr/>
        </p:nvCxnSpPr>
        <p:spPr>
          <a:xfrm>
            <a:off x="592756" y="5207164"/>
            <a:ext cx="520682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513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B3055-3D56-DA20-AAEF-D15A5929F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C45CE79-FD7B-7096-53AF-C6DB636D89CC}"/>
              </a:ext>
            </a:extLst>
          </p:cNvPr>
          <p:cNvSpPr/>
          <p:nvPr/>
        </p:nvSpPr>
        <p:spPr>
          <a:xfrm>
            <a:off x="319494" y="5266481"/>
            <a:ext cx="5331002" cy="1180618"/>
          </a:xfrm>
          <a:prstGeom prst="roundRect">
            <a:avLst/>
          </a:prstGeom>
          <a:solidFill>
            <a:srgbClr val="00B0F0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028DD29-2DFA-98D7-3CF2-8D8D55ECEF50}"/>
              </a:ext>
            </a:extLst>
          </p:cNvPr>
          <p:cNvSpPr/>
          <p:nvPr/>
        </p:nvSpPr>
        <p:spPr>
          <a:xfrm>
            <a:off x="297186" y="3693745"/>
            <a:ext cx="5331002" cy="949916"/>
          </a:xfrm>
          <a:prstGeom prst="roundRect">
            <a:avLst/>
          </a:prstGeom>
          <a:solidFill>
            <a:srgbClr val="00B0F0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CCC381F-2CF6-8F7D-59E6-0E69F1428594}"/>
              </a:ext>
            </a:extLst>
          </p:cNvPr>
          <p:cNvSpPr/>
          <p:nvPr/>
        </p:nvSpPr>
        <p:spPr>
          <a:xfrm>
            <a:off x="319494" y="1956415"/>
            <a:ext cx="5331002" cy="974608"/>
          </a:xfrm>
          <a:prstGeom prst="roundRect">
            <a:avLst/>
          </a:prstGeom>
          <a:solidFill>
            <a:srgbClr val="00B0F0"/>
          </a:solidFill>
          <a:ln>
            <a:solidFill>
              <a:schemeClr val="bg2">
                <a:lumMod val="75000"/>
              </a:schemeClr>
            </a:solidFill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7CC867-8EA8-2CB9-F871-85BE2A254626}"/>
              </a:ext>
            </a:extLst>
          </p:cNvPr>
          <p:cNvSpPr txBox="1"/>
          <p:nvPr/>
        </p:nvSpPr>
        <p:spPr>
          <a:xfrm>
            <a:off x="297186" y="3707038"/>
            <a:ext cx="54741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bg1"/>
                </a:solidFill>
              </a:rPr>
              <a:t>Objective</a:t>
            </a:r>
          </a:p>
          <a:p>
            <a:pPr>
              <a:buNone/>
            </a:pPr>
            <a:r>
              <a:rPr lang="en-IN" dirty="0">
                <a:solidFill>
                  <a:schemeClr val="bg1"/>
                </a:solidFill>
              </a:rPr>
              <a:t>Move from </a:t>
            </a:r>
            <a:r>
              <a:rPr lang="en-IN" b="1" dirty="0">
                <a:solidFill>
                  <a:schemeClr val="bg1"/>
                </a:solidFill>
              </a:rPr>
              <a:t>reactive</a:t>
            </a:r>
            <a:r>
              <a:rPr lang="en-IN" dirty="0">
                <a:solidFill>
                  <a:schemeClr val="bg1"/>
                </a:solidFill>
              </a:rPr>
              <a:t> customer retention to </a:t>
            </a:r>
            <a:r>
              <a:rPr lang="en-IN" b="1" dirty="0">
                <a:solidFill>
                  <a:schemeClr val="bg1"/>
                </a:solidFill>
              </a:rPr>
              <a:t>proactive</a:t>
            </a:r>
            <a:r>
              <a:rPr lang="en-IN" dirty="0">
                <a:solidFill>
                  <a:schemeClr val="bg1"/>
                </a:solidFill>
              </a:rPr>
              <a:t> and personalized intervention.</a:t>
            </a: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A8585532-B8DE-CD4A-4D00-367982200220}"/>
              </a:ext>
            </a:extLst>
          </p:cNvPr>
          <p:cNvSpPr/>
          <p:nvPr/>
        </p:nvSpPr>
        <p:spPr>
          <a:xfrm>
            <a:off x="7213600" y="3571897"/>
            <a:ext cx="472440" cy="85852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AB2C1F42-9482-B9FB-ACD6-5743A6BC1017}"/>
              </a:ext>
            </a:extLst>
          </p:cNvPr>
          <p:cNvSpPr/>
          <p:nvPr/>
        </p:nvSpPr>
        <p:spPr>
          <a:xfrm>
            <a:off x="7198360" y="4719568"/>
            <a:ext cx="472440" cy="138708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D64F4E1-CF82-BAC5-1FD3-24E4AD45A7D2}"/>
              </a:ext>
            </a:extLst>
          </p:cNvPr>
          <p:cNvSpPr txBox="1"/>
          <p:nvPr/>
        </p:nvSpPr>
        <p:spPr>
          <a:xfrm>
            <a:off x="297186" y="5245800"/>
            <a:ext cx="53352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b="1" dirty="0">
                <a:solidFill>
                  <a:schemeClr val="bg1"/>
                </a:solidFill>
              </a:rPr>
              <a:t>Key Innovation</a:t>
            </a:r>
          </a:p>
          <a:p>
            <a:pPr algn="just">
              <a:buNone/>
            </a:pPr>
            <a:r>
              <a:rPr lang="en-IN" dirty="0">
                <a:solidFill>
                  <a:schemeClr val="bg1"/>
                </a:solidFill>
              </a:rPr>
              <a:t>Instead of only predicting churn, the system </a:t>
            </a:r>
            <a:r>
              <a:rPr lang="en-IN" b="1" dirty="0">
                <a:solidFill>
                  <a:schemeClr val="bg1"/>
                </a:solidFill>
              </a:rPr>
              <a:t>explains</a:t>
            </a:r>
            <a:r>
              <a:rPr lang="en-IN" dirty="0">
                <a:solidFill>
                  <a:schemeClr val="bg1"/>
                </a:solidFill>
              </a:rPr>
              <a:t> the </a:t>
            </a:r>
            <a:r>
              <a:rPr lang="en-IN" b="1" dirty="0">
                <a:solidFill>
                  <a:schemeClr val="bg1"/>
                </a:solidFill>
              </a:rPr>
              <a:t>drivers of churn </a:t>
            </a:r>
            <a:r>
              <a:rPr lang="en-IN" dirty="0">
                <a:solidFill>
                  <a:schemeClr val="bg1"/>
                </a:solidFill>
              </a:rPr>
              <a:t>and </a:t>
            </a:r>
            <a:r>
              <a:rPr lang="en-IN" b="1" dirty="0">
                <a:solidFill>
                  <a:schemeClr val="bg1"/>
                </a:solidFill>
              </a:rPr>
              <a:t>recommends targeted interventions </a:t>
            </a:r>
            <a:r>
              <a:rPr lang="en-IN" dirty="0">
                <a:solidFill>
                  <a:schemeClr val="bg1"/>
                </a:solidFill>
              </a:rPr>
              <a:t>for </a:t>
            </a:r>
            <a:r>
              <a:rPr lang="en-IN" b="1" dirty="0">
                <a:solidFill>
                  <a:schemeClr val="bg1"/>
                </a:solidFill>
              </a:rPr>
              <a:t>each customer</a:t>
            </a:r>
            <a:r>
              <a:rPr lang="en-IN" dirty="0">
                <a:solidFill>
                  <a:schemeClr val="bg1"/>
                </a:solidFill>
              </a:rPr>
              <a:t>.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DF6A5A9-7FAC-4CBD-DE5F-A49C9E866A4D}"/>
              </a:ext>
            </a:extLst>
          </p:cNvPr>
          <p:cNvGrpSpPr/>
          <p:nvPr/>
        </p:nvGrpSpPr>
        <p:grpSpPr>
          <a:xfrm>
            <a:off x="20320" y="81280"/>
            <a:ext cx="12110720" cy="375920"/>
            <a:chOff x="436880" y="101600"/>
            <a:chExt cx="11684000" cy="589280"/>
          </a:xfrm>
        </p:grpSpPr>
        <p:sp>
          <p:nvSpPr>
            <p:cNvPr id="41" name="Arrow: Chevron 40">
              <a:extLst>
                <a:ext uri="{FF2B5EF4-FFF2-40B4-BE49-F238E27FC236}">
                  <a16:creationId xmlns:a16="http://schemas.microsoft.com/office/drawing/2014/main" id="{4C7C69A2-0E2F-715D-898E-CC7BB274BD3F}"/>
                </a:ext>
              </a:extLst>
            </p:cNvPr>
            <p:cNvSpPr/>
            <p:nvPr/>
          </p:nvSpPr>
          <p:spPr>
            <a:xfrm>
              <a:off x="436880" y="101600"/>
              <a:ext cx="2783840" cy="589280"/>
            </a:xfrm>
            <a:prstGeom prst="chevron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tx1"/>
                  </a:solidFill>
                </a:rPr>
                <a:t>PLAN</a:t>
              </a:r>
            </a:p>
          </p:txBody>
        </p:sp>
        <p:sp>
          <p:nvSpPr>
            <p:cNvPr id="42" name="Arrow: Chevron 41">
              <a:extLst>
                <a:ext uri="{FF2B5EF4-FFF2-40B4-BE49-F238E27FC236}">
                  <a16:creationId xmlns:a16="http://schemas.microsoft.com/office/drawing/2014/main" id="{083463DC-3F78-369E-B5B6-0FF61601143F}"/>
                </a:ext>
              </a:extLst>
            </p:cNvPr>
            <p:cNvSpPr/>
            <p:nvPr/>
          </p:nvSpPr>
          <p:spPr>
            <a:xfrm>
              <a:off x="3403600" y="101600"/>
              <a:ext cx="2783840" cy="589280"/>
            </a:xfrm>
            <a:prstGeom prst="chevron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tx1"/>
                  </a:solidFill>
                </a:rPr>
                <a:t>DO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43" name="Arrow: Chevron 42">
              <a:extLst>
                <a:ext uri="{FF2B5EF4-FFF2-40B4-BE49-F238E27FC236}">
                  <a16:creationId xmlns:a16="http://schemas.microsoft.com/office/drawing/2014/main" id="{9328BECF-F62F-B3A9-C6FB-EEA5BE0713CB}"/>
                </a:ext>
              </a:extLst>
            </p:cNvPr>
            <p:cNvSpPr/>
            <p:nvPr/>
          </p:nvSpPr>
          <p:spPr>
            <a:xfrm>
              <a:off x="6370320" y="101600"/>
              <a:ext cx="2783840" cy="589280"/>
            </a:xfrm>
            <a:prstGeom prst="chevron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tx1"/>
                  </a:solidFill>
                </a:rPr>
                <a:t>CHECK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44" name="Arrow: Chevron 43">
              <a:extLst>
                <a:ext uri="{FF2B5EF4-FFF2-40B4-BE49-F238E27FC236}">
                  <a16:creationId xmlns:a16="http://schemas.microsoft.com/office/drawing/2014/main" id="{5A62186F-B8BE-BDA0-7741-6787CB82F6F8}"/>
                </a:ext>
              </a:extLst>
            </p:cNvPr>
            <p:cNvSpPr/>
            <p:nvPr/>
          </p:nvSpPr>
          <p:spPr>
            <a:xfrm>
              <a:off x="9337040" y="101600"/>
              <a:ext cx="2783840" cy="589280"/>
            </a:xfrm>
            <a:prstGeom prst="chevron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tx1"/>
                  </a:solidFill>
                </a:rPr>
                <a:t>ACT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45" name="Picture 44" descr="AI generated image">
            <a:extLst>
              <a:ext uri="{FF2B5EF4-FFF2-40B4-BE49-F238E27FC236}">
                <a16:creationId xmlns:a16="http://schemas.microsoft.com/office/drawing/2014/main" id="{20DC16FB-AD1A-2784-A1F7-F5D1C653E9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37"/>
          <a:stretch>
            <a:fillRect/>
          </a:stretch>
        </p:blipFill>
        <p:spPr>
          <a:xfrm>
            <a:off x="6108225" y="863403"/>
            <a:ext cx="6096000" cy="60666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6FCD3C-85B4-3D50-E952-44C248F46766}"/>
              </a:ext>
            </a:extLst>
          </p:cNvPr>
          <p:cNvSpPr txBox="1"/>
          <p:nvPr/>
        </p:nvSpPr>
        <p:spPr>
          <a:xfrm>
            <a:off x="224683" y="680536"/>
            <a:ext cx="51112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Explainable AI-Powered Retention Framework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1CB038D-4000-8665-2ED7-8F898A63216F}"/>
              </a:ext>
            </a:extLst>
          </p:cNvPr>
          <p:cNvSpPr/>
          <p:nvPr/>
        </p:nvSpPr>
        <p:spPr>
          <a:xfrm>
            <a:off x="11868620" y="6548356"/>
            <a:ext cx="255600" cy="254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93E09C-8E92-C6DD-58DD-E59DC8F9AE63}"/>
              </a:ext>
            </a:extLst>
          </p:cNvPr>
          <p:cNvSpPr txBox="1"/>
          <p:nvPr/>
        </p:nvSpPr>
        <p:spPr>
          <a:xfrm>
            <a:off x="358308" y="2008864"/>
            <a:ext cx="5213024" cy="954107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solidFill>
                  <a:schemeClr val="bg1"/>
                </a:solidFill>
              </a:rPr>
              <a:t>From market survey and gap analysis, our company  XAI combines all the positive features and made an </a:t>
            </a:r>
            <a:r>
              <a:rPr lang="en-IN" sz="2000" b="1" dirty="0">
                <a:solidFill>
                  <a:schemeClr val="bg1"/>
                </a:solidFill>
              </a:rPr>
              <a:t>ALL IN ONE SOLUTION</a:t>
            </a:r>
            <a:r>
              <a:rPr lang="en-IN" b="1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B0FD5CF0-007E-4020-149C-B535A4246B42}"/>
              </a:ext>
            </a:extLst>
          </p:cNvPr>
          <p:cNvSpPr/>
          <p:nvPr/>
        </p:nvSpPr>
        <p:spPr>
          <a:xfrm>
            <a:off x="5135951" y="731095"/>
            <a:ext cx="1944547" cy="375920"/>
          </a:xfrm>
          <a:prstGeom prst="rightArrow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166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06E47-3CE0-C15A-73EE-6F3F1B14E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EED6E5-0DFB-4E95-A86A-91EA5997706B}"/>
              </a:ext>
            </a:extLst>
          </p:cNvPr>
          <p:cNvSpPr txBox="1"/>
          <p:nvPr/>
        </p:nvSpPr>
        <p:spPr>
          <a:xfrm>
            <a:off x="192414" y="506775"/>
            <a:ext cx="5049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 Pipeline for ML Workflow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A04B92-D385-B9FF-1D8B-03A279B6FDD6}"/>
              </a:ext>
            </a:extLst>
          </p:cNvPr>
          <p:cNvSpPr txBox="1"/>
          <p:nvPr/>
        </p:nvSpPr>
        <p:spPr>
          <a:xfrm>
            <a:off x="6238240" y="1021178"/>
            <a:ext cx="57302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Think of CatBoost as a highly disciplined committee of decision-makers. Instead of relying on one person's guess, it asks thousands of specialized questions in a structured order. Each new question specifically </a:t>
            </a:r>
            <a:r>
              <a:rPr lang="en-IN" b="1" dirty="0"/>
              <a:t>corrects the mistakes made by the previous ones </a:t>
            </a:r>
            <a:r>
              <a:rPr lang="en-IN" dirty="0"/>
              <a:t>until they reach the most accurate prediction possible.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739F58-5374-C9B9-8359-A668EF38EE96}"/>
              </a:ext>
            </a:extLst>
          </p:cNvPr>
          <p:cNvSpPr txBox="1"/>
          <p:nvPr/>
        </p:nvSpPr>
        <p:spPr>
          <a:xfrm>
            <a:off x="-2072906" y="3343832"/>
            <a:ext cx="1952346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sz="1050" b="1" u="none" strike="noStrike" dirty="0">
                <a:effectLst/>
                <a:latin typeface="Google Sans"/>
              </a:rPr>
              <a:t>ROC-AUC</a:t>
            </a:r>
            <a:r>
              <a:rPr lang="en-IN" sz="1050" dirty="0"/>
              <a:t> is a score used to measure how well a yes/no prediction model can tell two categories apart.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61C9B38-8246-9858-EBD9-2806E1232211}"/>
              </a:ext>
            </a:extLst>
          </p:cNvPr>
          <p:cNvSpPr/>
          <p:nvPr/>
        </p:nvSpPr>
        <p:spPr>
          <a:xfrm>
            <a:off x="11695559" y="6500192"/>
            <a:ext cx="428661" cy="302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10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8F28899-B9B1-C63A-ED19-97CFE0BAE260}"/>
              </a:ext>
            </a:extLst>
          </p:cNvPr>
          <p:cNvGrpSpPr/>
          <p:nvPr/>
        </p:nvGrpSpPr>
        <p:grpSpPr>
          <a:xfrm>
            <a:off x="20320" y="81280"/>
            <a:ext cx="12110720" cy="375920"/>
            <a:chOff x="436880" y="101600"/>
            <a:chExt cx="11684000" cy="589280"/>
          </a:xfrm>
        </p:grpSpPr>
        <p:sp>
          <p:nvSpPr>
            <p:cNvPr id="29" name="Arrow: Chevron 28">
              <a:extLst>
                <a:ext uri="{FF2B5EF4-FFF2-40B4-BE49-F238E27FC236}">
                  <a16:creationId xmlns:a16="http://schemas.microsoft.com/office/drawing/2014/main" id="{EBA6627C-2513-32BA-429A-3EBC3661C37A}"/>
                </a:ext>
              </a:extLst>
            </p:cNvPr>
            <p:cNvSpPr/>
            <p:nvPr/>
          </p:nvSpPr>
          <p:spPr>
            <a:xfrm>
              <a:off x="436880" y="101600"/>
              <a:ext cx="2783840" cy="589280"/>
            </a:xfrm>
            <a:prstGeom prst="chevron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tx1"/>
                  </a:solidFill>
                </a:rPr>
                <a:t>PLAN</a:t>
              </a:r>
            </a:p>
          </p:txBody>
        </p:sp>
        <p:sp>
          <p:nvSpPr>
            <p:cNvPr id="30" name="Arrow: Chevron 29">
              <a:extLst>
                <a:ext uri="{FF2B5EF4-FFF2-40B4-BE49-F238E27FC236}">
                  <a16:creationId xmlns:a16="http://schemas.microsoft.com/office/drawing/2014/main" id="{6BADA9A0-343C-FC22-9955-7548FA7C7105}"/>
                </a:ext>
              </a:extLst>
            </p:cNvPr>
            <p:cNvSpPr/>
            <p:nvPr/>
          </p:nvSpPr>
          <p:spPr>
            <a:xfrm>
              <a:off x="3403600" y="101600"/>
              <a:ext cx="2783840" cy="589280"/>
            </a:xfrm>
            <a:prstGeom prst="chevron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tx1"/>
                  </a:solidFill>
                </a:rPr>
                <a:t>DO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31" name="Arrow: Chevron 30">
              <a:extLst>
                <a:ext uri="{FF2B5EF4-FFF2-40B4-BE49-F238E27FC236}">
                  <a16:creationId xmlns:a16="http://schemas.microsoft.com/office/drawing/2014/main" id="{FC08C08E-CB30-0E5C-99C8-76C7A39982AA}"/>
                </a:ext>
              </a:extLst>
            </p:cNvPr>
            <p:cNvSpPr/>
            <p:nvPr/>
          </p:nvSpPr>
          <p:spPr>
            <a:xfrm>
              <a:off x="6370320" y="101600"/>
              <a:ext cx="2783840" cy="589280"/>
            </a:xfrm>
            <a:prstGeom prst="chevron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tx1"/>
                  </a:solidFill>
                </a:rPr>
                <a:t>CHECK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32" name="Arrow: Chevron 31">
              <a:extLst>
                <a:ext uri="{FF2B5EF4-FFF2-40B4-BE49-F238E27FC236}">
                  <a16:creationId xmlns:a16="http://schemas.microsoft.com/office/drawing/2014/main" id="{BE487C94-D5A1-C218-C2EA-A5D7E247D65C}"/>
                </a:ext>
              </a:extLst>
            </p:cNvPr>
            <p:cNvSpPr/>
            <p:nvPr/>
          </p:nvSpPr>
          <p:spPr>
            <a:xfrm>
              <a:off x="9337040" y="101600"/>
              <a:ext cx="2783840" cy="589280"/>
            </a:xfrm>
            <a:prstGeom prst="chevron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tx1"/>
                  </a:solidFill>
                </a:rPr>
                <a:t>ACT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35" name="Picture 34" descr="AI generated image">
            <a:extLst>
              <a:ext uri="{FF2B5EF4-FFF2-40B4-BE49-F238E27FC236}">
                <a16:creationId xmlns:a16="http://schemas.microsoft.com/office/drawing/2014/main" id="{B6EE6D1A-0DFA-6050-9A6B-06843C02A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41" y="963975"/>
            <a:ext cx="5049520" cy="5894025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64E9ED34-11A3-06FA-A16E-13E674A9AF6B}"/>
              </a:ext>
            </a:extLst>
          </p:cNvPr>
          <p:cNvSpPr/>
          <p:nvPr/>
        </p:nvSpPr>
        <p:spPr>
          <a:xfrm>
            <a:off x="4767072" y="6405880"/>
            <a:ext cx="315464" cy="322580"/>
          </a:xfrm>
          <a:prstGeom prst="rect">
            <a:avLst/>
          </a:prstGeom>
          <a:solidFill>
            <a:srgbClr val="1832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7" name="Picture 36" descr="AI generated image">
            <a:extLst>
              <a:ext uri="{FF2B5EF4-FFF2-40B4-BE49-F238E27FC236}">
                <a16:creationId xmlns:a16="http://schemas.microsoft.com/office/drawing/2014/main" id="{BA15144D-8D17-A249-E9DD-529ACDEC67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019" b="8081"/>
          <a:stretch>
            <a:fillRect/>
          </a:stretch>
        </p:blipFill>
        <p:spPr>
          <a:xfrm>
            <a:off x="6302444" y="2827422"/>
            <a:ext cx="5666036" cy="2510149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9B590C6-D9B6-3189-1C18-2EF0339E23A3}"/>
              </a:ext>
            </a:extLst>
          </p:cNvPr>
          <p:cNvSpPr txBox="1"/>
          <p:nvPr/>
        </p:nvSpPr>
        <p:spPr>
          <a:xfrm>
            <a:off x="6238240" y="5441418"/>
            <a:ext cx="5457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Why We Selected CatBoost model?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9BEABC-CA52-88FF-0D52-EC8EF06BBA17}"/>
              </a:ext>
            </a:extLst>
          </p:cNvPr>
          <p:cNvSpPr txBox="1"/>
          <p:nvPr/>
        </p:nvSpPr>
        <p:spPr>
          <a:xfrm>
            <a:off x="6165204" y="559513"/>
            <a:ext cx="56561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What is CatBoost?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63C0E8-C794-D6A5-2C96-EC787E335FFF}"/>
              </a:ext>
            </a:extLst>
          </p:cNvPr>
          <p:cNvSpPr txBox="1"/>
          <p:nvPr/>
        </p:nvSpPr>
        <p:spPr>
          <a:xfrm>
            <a:off x="6238240" y="5903083"/>
            <a:ext cx="57302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Exceptional Accuracy Out-of-the-Box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Built for Real-World Customer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Speed &amp; Efficiency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97B0BCE-25A2-5349-1DA8-7D2946B112E1}"/>
              </a:ext>
            </a:extLst>
          </p:cNvPr>
          <p:cNvCxnSpPr/>
          <p:nvPr/>
        </p:nvCxnSpPr>
        <p:spPr>
          <a:xfrm flipH="1">
            <a:off x="-2331982" y="3698240"/>
            <a:ext cx="2286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86846C65-E603-DF51-4EAD-A583EC737E4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717974" y="1666360"/>
            <a:ext cx="2311669" cy="55964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D4596B6-2A59-36EE-024E-A5EBBE936D6D}"/>
              </a:ext>
            </a:extLst>
          </p:cNvPr>
          <p:cNvCxnSpPr/>
          <p:nvPr/>
        </p:nvCxnSpPr>
        <p:spPr>
          <a:xfrm>
            <a:off x="4676172" y="3102016"/>
            <a:ext cx="9293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1413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469705A-B5C5-B6DB-ED12-B8AFBC9432D4}"/>
              </a:ext>
            </a:extLst>
          </p:cNvPr>
          <p:cNvSpPr txBox="1"/>
          <p:nvPr/>
        </p:nvSpPr>
        <p:spPr>
          <a:xfrm>
            <a:off x="9413424" y="526308"/>
            <a:ext cx="2885511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300" b="1" dirty="0"/>
              <a:t>Feature Importance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0037526-9074-5FF8-8255-6B922EB27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7496668"/>
              </p:ext>
            </p:extLst>
          </p:nvPr>
        </p:nvGraphicFramePr>
        <p:xfrm>
          <a:off x="9508046" y="963578"/>
          <a:ext cx="2663634" cy="396801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08594">
                  <a:extLst>
                    <a:ext uri="{9D8B030D-6E8A-4147-A177-3AD203B41FA5}">
                      <a16:colId xmlns:a16="http://schemas.microsoft.com/office/drawing/2014/main" val="3811170598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954859615"/>
                    </a:ext>
                  </a:extLst>
                </a:gridCol>
              </a:tblGrid>
              <a:tr h="1889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b="1" dirty="0">
                          <a:effectLst/>
                        </a:rPr>
                        <a:t>Top 20 Feature 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b="1" dirty="0">
                          <a:effectLst/>
                        </a:rPr>
                        <a:t>Importance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1047760"/>
                  </a:ext>
                </a:extLst>
              </a:tr>
              <a:tr h="1889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 err="1">
                          <a:effectLst/>
                        </a:rPr>
                        <a:t>num</a:t>
                      </a:r>
                      <a:r>
                        <a:rPr lang="en-IN" sz="800" dirty="0">
                          <a:effectLst/>
                        </a:rPr>
                        <a:t>__months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>
                          <a:effectLst/>
                        </a:rPr>
                        <a:t>10.996072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0750"/>
                  </a:ext>
                </a:extLst>
              </a:tr>
              <a:tr h="1889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 err="1">
                          <a:effectLst/>
                        </a:rPr>
                        <a:t>num</a:t>
                      </a:r>
                      <a:r>
                        <a:rPr lang="en-IN" sz="800" dirty="0">
                          <a:effectLst/>
                        </a:rPr>
                        <a:t>__</a:t>
                      </a:r>
                      <a:r>
                        <a:rPr lang="en-IN" sz="800" dirty="0" err="1">
                          <a:effectLst/>
                        </a:rPr>
                        <a:t>eqpdays</a:t>
                      </a:r>
                      <a:endParaRPr lang="en-IN" sz="800" dirty="0">
                        <a:effectLst/>
                      </a:endParaRP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>
                          <a:effectLst/>
                        </a:rPr>
                        <a:t>9.048197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952477"/>
                  </a:ext>
                </a:extLst>
              </a:tr>
              <a:tr h="1889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 err="1">
                          <a:effectLst/>
                        </a:rPr>
                        <a:t>num</a:t>
                      </a:r>
                      <a:r>
                        <a:rPr lang="en-IN" sz="800" dirty="0">
                          <a:effectLst/>
                        </a:rPr>
                        <a:t>__</a:t>
                      </a:r>
                      <a:r>
                        <a:rPr lang="en-IN" sz="800" dirty="0" err="1">
                          <a:effectLst/>
                        </a:rPr>
                        <a:t>change_mou</a:t>
                      </a:r>
                      <a:endParaRPr lang="en-IN" sz="800" dirty="0">
                        <a:effectLst/>
                      </a:endParaRP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>
                          <a:effectLst/>
                        </a:rPr>
                        <a:t>7.257531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885907"/>
                  </a:ext>
                </a:extLst>
              </a:tr>
              <a:tr h="1889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 err="1">
                          <a:effectLst/>
                        </a:rPr>
                        <a:t>num</a:t>
                      </a:r>
                      <a:r>
                        <a:rPr lang="en-IN" sz="800" dirty="0">
                          <a:effectLst/>
                        </a:rPr>
                        <a:t>__</a:t>
                      </a:r>
                      <a:r>
                        <a:rPr lang="en-IN" sz="800" dirty="0" err="1">
                          <a:effectLst/>
                        </a:rPr>
                        <a:t>mou_Mean</a:t>
                      </a:r>
                      <a:endParaRPr lang="en-IN" sz="800" dirty="0">
                        <a:effectLst/>
                      </a:endParaRP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>
                          <a:effectLst/>
                        </a:rPr>
                        <a:t>6.493265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408677"/>
                  </a:ext>
                </a:extLst>
              </a:tr>
              <a:tr h="1889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 err="1">
                          <a:effectLst/>
                        </a:rPr>
                        <a:t>num</a:t>
                      </a:r>
                      <a:r>
                        <a:rPr lang="en-IN" sz="800" dirty="0">
                          <a:effectLst/>
                        </a:rPr>
                        <a:t>__</a:t>
                      </a:r>
                      <a:r>
                        <a:rPr lang="en-IN" sz="800" dirty="0" err="1">
                          <a:effectLst/>
                        </a:rPr>
                        <a:t>totmrc_Mean</a:t>
                      </a:r>
                      <a:endParaRPr lang="en-IN" sz="800" dirty="0">
                        <a:effectLst/>
                      </a:endParaRP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>
                          <a:effectLst/>
                        </a:rPr>
                        <a:t>5.202114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719733"/>
                  </a:ext>
                </a:extLst>
              </a:tr>
              <a:tr h="1889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 err="1">
                          <a:effectLst/>
                        </a:rPr>
                        <a:t>num</a:t>
                      </a:r>
                      <a:r>
                        <a:rPr lang="en-IN" sz="800" dirty="0">
                          <a:effectLst/>
                        </a:rPr>
                        <a:t>__</a:t>
                      </a:r>
                      <a:r>
                        <a:rPr lang="en-IN" sz="800" dirty="0" err="1">
                          <a:effectLst/>
                        </a:rPr>
                        <a:t>hnd_price</a:t>
                      </a:r>
                      <a:endParaRPr lang="en-IN" sz="800" dirty="0">
                        <a:effectLst/>
                      </a:endParaRP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>
                          <a:effectLst/>
                        </a:rPr>
                        <a:t>3.360129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7405890"/>
                  </a:ext>
                </a:extLst>
              </a:tr>
              <a:tr h="1889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 err="1">
                          <a:effectLst/>
                        </a:rPr>
                        <a:t>num</a:t>
                      </a:r>
                      <a:r>
                        <a:rPr lang="en-IN" sz="800" dirty="0">
                          <a:effectLst/>
                        </a:rPr>
                        <a:t>__</a:t>
                      </a:r>
                      <a:r>
                        <a:rPr lang="en-IN" sz="800" dirty="0" err="1">
                          <a:effectLst/>
                        </a:rPr>
                        <a:t>change_rev</a:t>
                      </a:r>
                      <a:endParaRPr lang="en-IN" sz="800" dirty="0">
                        <a:effectLst/>
                      </a:endParaRP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>
                          <a:effectLst/>
                        </a:rPr>
                        <a:t>3.079838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633059"/>
                  </a:ext>
                </a:extLst>
              </a:tr>
              <a:tr h="1889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>
                          <a:effectLst/>
                        </a:rPr>
                        <a:t>num__uniqsubs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>
                          <a:effectLst/>
                        </a:rPr>
                        <a:t>1.984856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2324243"/>
                  </a:ext>
                </a:extLst>
              </a:tr>
              <a:tr h="1889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 err="1">
                          <a:effectLst/>
                        </a:rPr>
                        <a:t>num</a:t>
                      </a:r>
                      <a:r>
                        <a:rPr lang="en-IN" sz="800" dirty="0">
                          <a:effectLst/>
                        </a:rPr>
                        <a:t>__lor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>
                          <a:effectLst/>
                        </a:rPr>
                        <a:t>1.824522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491087"/>
                  </a:ext>
                </a:extLst>
              </a:tr>
              <a:tr h="1889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 err="1">
                          <a:effectLst/>
                        </a:rPr>
                        <a:t>num</a:t>
                      </a:r>
                      <a:r>
                        <a:rPr lang="en-IN" sz="800" dirty="0">
                          <a:effectLst/>
                        </a:rPr>
                        <a:t>__</a:t>
                      </a:r>
                      <a:r>
                        <a:rPr lang="en-IN" sz="800" dirty="0" err="1">
                          <a:effectLst/>
                        </a:rPr>
                        <a:t>avgqty</a:t>
                      </a:r>
                      <a:endParaRPr lang="en-IN" sz="800" dirty="0">
                        <a:effectLst/>
                      </a:endParaRP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>
                          <a:effectLst/>
                        </a:rPr>
                        <a:t>1.819818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0891593"/>
                  </a:ext>
                </a:extLst>
              </a:tr>
              <a:tr h="1889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 err="1">
                          <a:effectLst/>
                        </a:rPr>
                        <a:t>num</a:t>
                      </a:r>
                      <a:r>
                        <a:rPr lang="en-IN" sz="800" dirty="0">
                          <a:effectLst/>
                        </a:rPr>
                        <a:t>__</a:t>
                      </a:r>
                      <a:r>
                        <a:rPr lang="en-IN" sz="800" dirty="0" err="1">
                          <a:effectLst/>
                        </a:rPr>
                        <a:t>avgmou</a:t>
                      </a:r>
                      <a:endParaRPr lang="en-IN" sz="800" dirty="0">
                        <a:effectLst/>
                      </a:endParaRP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>
                          <a:effectLst/>
                        </a:rPr>
                        <a:t>1.704745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314887"/>
                  </a:ext>
                </a:extLst>
              </a:tr>
              <a:tr h="1889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>
                          <a:effectLst/>
                        </a:rPr>
                        <a:t>num__drop_vce_Mean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>
                          <a:effectLst/>
                        </a:rPr>
                        <a:t>1.692911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1864218"/>
                  </a:ext>
                </a:extLst>
              </a:tr>
              <a:tr h="1889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>
                          <a:effectLst/>
                        </a:rPr>
                        <a:t>num__avg3mou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>
                          <a:effectLst/>
                        </a:rPr>
                        <a:t>1.587286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165035"/>
                  </a:ext>
                </a:extLst>
              </a:tr>
              <a:tr h="1889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>
                          <a:effectLst/>
                        </a:rPr>
                        <a:t>num__avgrev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>
                          <a:effectLst/>
                        </a:rPr>
                        <a:t>1.361344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5732103"/>
                  </a:ext>
                </a:extLst>
              </a:tr>
              <a:tr h="1889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 err="1">
                          <a:effectLst/>
                        </a:rPr>
                        <a:t>num</a:t>
                      </a:r>
                      <a:r>
                        <a:rPr lang="en-IN" sz="800" dirty="0">
                          <a:effectLst/>
                        </a:rPr>
                        <a:t>__</a:t>
                      </a:r>
                      <a:r>
                        <a:rPr lang="en-IN" sz="800" dirty="0" err="1">
                          <a:effectLst/>
                        </a:rPr>
                        <a:t>ovrrev_Mean</a:t>
                      </a:r>
                      <a:endParaRPr lang="en-IN" sz="800" dirty="0">
                        <a:effectLst/>
                      </a:endParaRP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>
                          <a:effectLst/>
                        </a:rPr>
                        <a:t>1.355567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18653"/>
                  </a:ext>
                </a:extLst>
              </a:tr>
              <a:tr h="1889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>
                          <a:effectLst/>
                        </a:rPr>
                        <a:t>num__rev_Mean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>
                          <a:effectLst/>
                        </a:rPr>
                        <a:t>1.324330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4436350"/>
                  </a:ext>
                </a:extLst>
              </a:tr>
              <a:tr h="1889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 err="1">
                          <a:effectLst/>
                        </a:rPr>
                        <a:t>num</a:t>
                      </a:r>
                      <a:r>
                        <a:rPr lang="en-IN" sz="800" dirty="0">
                          <a:effectLst/>
                        </a:rPr>
                        <a:t>__</a:t>
                      </a:r>
                      <a:r>
                        <a:rPr lang="en-IN" sz="800" dirty="0" err="1">
                          <a:effectLst/>
                        </a:rPr>
                        <a:t>mou_cvce_Mean</a:t>
                      </a:r>
                      <a:endParaRPr lang="en-IN" sz="800" dirty="0">
                        <a:effectLst/>
                      </a:endParaRP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>
                          <a:effectLst/>
                        </a:rPr>
                        <a:t>1.289844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801934"/>
                  </a:ext>
                </a:extLst>
              </a:tr>
              <a:tr h="1889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>
                          <a:effectLst/>
                        </a:rPr>
                        <a:t>num__vceovr_Mean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>
                          <a:effectLst/>
                        </a:rPr>
                        <a:t>1.275038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7189135"/>
                  </a:ext>
                </a:extLst>
              </a:tr>
              <a:tr h="1889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 err="1">
                          <a:effectLst/>
                        </a:rPr>
                        <a:t>num</a:t>
                      </a:r>
                      <a:r>
                        <a:rPr lang="en-IN" sz="800" dirty="0">
                          <a:effectLst/>
                        </a:rPr>
                        <a:t>__</a:t>
                      </a:r>
                      <a:r>
                        <a:rPr lang="en-IN" sz="800" dirty="0" err="1">
                          <a:effectLst/>
                        </a:rPr>
                        <a:t>adjqty</a:t>
                      </a:r>
                      <a:endParaRPr lang="en-IN" sz="800" dirty="0">
                        <a:effectLst/>
                      </a:endParaRP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>
                          <a:effectLst/>
                        </a:rPr>
                        <a:t>1.142279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32120"/>
                  </a:ext>
                </a:extLst>
              </a:tr>
              <a:tr h="1889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 err="1">
                          <a:effectLst/>
                        </a:rPr>
                        <a:t>num</a:t>
                      </a:r>
                      <a:r>
                        <a:rPr lang="en-IN" sz="800" dirty="0">
                          <a:effectLst/>
                        </a:rPr>
                        <a:t>__</a:t>
                      </a:r>
                      <a:r>
                        <a:rPr lang="en-IN" sz="800" dirty="0" err="1">
                          <a:effectLst/>
                        </a:rPr>
                        <a:t>inonemin_Mean</a:t>
                      </a:r>
                      <a:endParaRPr lang="en-IN" sz="800" dirty="0">
                        <a:effectLst/>
                      </a:endParaRP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>
                          <a:effectLst/>
                        </a:rPr>
                        <a:t>1.103026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43133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85B6D5C-F059-602A-E9B7-097B24136EBB}"/>
              </a:ext>
            </a:extLst>
          </p:cNvPr>
          <p:cNvSpPr txBox="1"/>
          <p:nvPr/>
        </p:nvSpPr>
        <p:spPr>
          <a:xfrm>
            <a:off x="4833133" y="3549253"/>
            <a:ext cx="4630193" cy="1353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1400" b="1" dirty="0"/>
              <a:t>Key Message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400" dirty="0"/>
              <a:t>CatBoost achieved the best performance and identified </a:t>
            </a:r>
            <a:r>
              <a:rPr lang="en-IN" sz="1400" b="1" dirty="0"/>
              <a:t>lifecycle stage, device age, engagement decline, and pricing factors </a:t>
            </a:r>
            <a:r>
              <a:rPr lang="en-IN" sz="1400" dirty="0"/>
              <a:t>as </a:t>
            </a:r>
            <a:r>
              <a:rPr lang="en-IN" sz="1400" b="1" dirty="0"/>
              <a:t>primary churn drivers.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681E89-BA64-A5CF-90BF-BD1419D317E9}"/>
              </a:ext>
            </a:extLst>
          </p:cNvPr>
          <p:cNvSpPr txBox="1"/>
          <p:nvPr/>
        </p:nvSpPr>
        <p:spPr>
          <a:xfrm>
            <a:off x="4829261" y="4818512"/>
            <a:ext cx="4664759" cy="199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400" b="1" dirty="0"/>
              <a:t>Key Findings</a:t>
            </a:r>
          </a:p>
          <a:p>
            <a:pPr>
              <a:lnSpc>
                <a:spcPct val="150000"/>
              </a:lnSpc>
              <a:buNone/>
            </a:pPr>
            <a:r>
              <a:rPr lang="en-IN" sz="1400" dirty="0"/>
              <a:t>✅ Older devices = ⬆️ churn risk</a:t>
            </a:r>
          </a:p>
          <a:p>
            <a:pPr>
              <a:lnSpc>
                <a:spcPct val="150000"/>
              </a:lnSpc>
              <a:buNone/>
            </a:pPr>
            <a:r>
              <a:rPr lang="en-IN" sz="1400" dirty="0"/>
              <a:t>✅ Usage decline =⬆️ churn risk</a:t>
            </a:r>
          </a:p>
          <a:p>
            <a:pPr>
              <a:lnSpc>
                <a:spcPct val="150000"/>
              </a:lnSpc>
              <a:buNone/>
            </a:pPr>
            <a:r>
              <a:rPr lang="en-IN" sz="1400" dirty="0"/>
              <a:t>✅ Lower handset value =⬆️ churn risk</a:t>
            </a:r>
          </a:p>
          <a:p>
            <a:pPr>
              <a:lnSpc>
                <a:spcPct val="150000"/>
              </a:lnSpc>
              <a:buNone/>
            </a:pPr>
            <a:r>
              <a:rPr lang="en-IN" sz="1400" dirty="0"/>
              <a:t>✅ Higher overage charges = ⬆️ churn risk</a:t>
            </a:r>
          </a:p>
          <a:p>
            <a:pPr marL="263525" indent="-263525">
              <a:lnSpc>
                <a:spcPct val="150000"/>
              </a:lnSpc>
              <a:buNone/>
            </a:pPr>
            <a:r>
              <a:rPr lang="en-IN" sz="1400" dirty="0"/>
              <a:t>✅ Customer lifecycle stage significantly influences churn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0A0594-578B-5599-2C00-224A4EA81BE7}"/>
              </a:ext>
            </a:extLst>
          </p:cNvPr>
          <p:cNvSpPr/>
          <p:nvPr/>
        </p:nvSpPr>
        <p:spPr>
          <a:xfrm>
            <a:off x="11753907" y="6481736"/>
            <a:ext cx="36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11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D6DC1DF-9BE0-08BE-6ACD-EF21077E8A19}"/>
              </a:ext>
            </a:extLst>
          </p:cNvPr>
          <p:cNvGrpSpPr/>
          <p:nvPr/>
        </p:nvGrpSpPr>
        <p:grpSpPr>
          <a:xfrm>
            <a:off x="20320" y="81280"/>
            <a:ext cx="12110720" cy="375920"/>
            <a:chOff x="436880" y="101600"/>
            <a:chExt cx="11684000" cy="589280"/>
          </a:xfrm>
        </p:grpSpPr>
        <p:sp>
          <p:nvSpPr>
            <p:cNvPr id="25" name="Arrow: Chevron 24">
              <a:extLst>
                <a:ext uri="{FF2B5EF4-FFF2-40B4-BE49-F238E27FC236}">
                  <a16:creationId xmlns:a16="http://schemas.microsoft.com/office/drawing/2014/main" id="{691BD65B-D4EE-656E-3EAE-033059C1C6D0}"/>
                </a:ext>
              </a:extLst>
            </p:cNvPr>
            <p:cNvSpPr/>
            <p:nvPr/>
          </p:nvSpPr>
          <p:spPr>
            <a:xfrm>
              <a:off x="436880" y="101600"/>
              <a:ext cx="2783840" cy="589280"/>
            </a:xfrm>
            <a:prstGeom prst="chevron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tx1"/>
                  </a:solidFill>
                </a:rPr>
                <a:t>PLAN</a:t>
              </a:r>
            </a:p>
          </p:txBody>
        </p:sp>
        <p:sp>
          <p:nvSpPr>
            <p:cNvPr id="26" name="Arrow: Chevron 25">
              <a:extLst>
                <a:ext uri="{FF2B5EF4-FFF2-40B4-BE49-F238E27FC236}">
                  <a16:creationId xmlns:a16="http://schemas.microsoft.com/office/drawing/2014/main" id="{72CF91B7-3622-21BE-0FDC-672902EDDF16}"/>
                </a:ext>
              </a:extLst>
            </p:cNvPr>
            <p:cNvSpPr/>
            <p:nvPr/>
          </p:nvSpPr>
          <p:spPr>
            <a:xfrm>
              <a:off x="3403600" y="101600"/>
              <a:ext cx="2783840" cy="589280"/>
            </a:xfrm>
            <a:prstGeom prst="chevron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tx1"/>
                  </a:solidFill>
                </a:rPr>
                <a:t>DO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27" name="Arrow: Chevron 26">
              <a:extLst>
                <a:ext uri="{FF2B5EF4-FFF2-40B4-BE49-F238E27FC236}">
                  <a16:creationId xmlns:a16="http://schemas.microsoft.com/office/drawing/2014/main" id="{D01C015D-9F3A-E96C-8EC3-7F50C130F1B6}"/>
                </a:ext>
              </a:extLst>
            </p:cNvPr>
            <p:cNvSpPr/>
            <p:nvPr/>
          </p:nvSpPr>
          <p:spPr>
            <a:xfrm>
              <a:off x="6370320" y="101600"/>
              <a:ext cx="2783840" cy="589280"/>
            </a:xfrm>
            <a:prstGeom prst="chevron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tx1"/>
                  </a:solidFill>
                </a:rPr>
                <a:t>CHECK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28" name="Arrow: Chevron 27">
              <a:extLst>
                <a:ext uri="{FF2B5EF4-FFF2-40B4-BE49-F238E27FC236}">
                  <a16:creationId xmlns:a16="http://schemas.microsoft.com/office/drawing/2014/main" id="{47C716FE-65CE-6D71-7E70-598161A43305}"/>
                </a:ext>
              </a:extLst>
            </p:cNvPr>
            <p:cNvSpPr/>
            <p:nvPr/>
          </p:nvSpPr>
          <p:spPr>
            <a:xfrm>
              <a:off x="9337040" y="101600"/>
              <a:ext cx="2783840" cy="589280"/>
            </a:xfrm>
            <a:prstGeom prst="chevron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tx1"/>
                  </a:solidFill>
                </a:rPr>
                <a:t>ACT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0861F183-2B09-7BC9-8F49-04D4E526D0A5}"/>
              </a:ext>
            </a:extLst>
          </p:cNvPr>
          <p:cNvSpPr txBox="1"/>
          <p:nvPr/>
        </p:nvSpPr>
        <p:spPr>
          <a:xfrm>
            <a:off x="4780832" y="491754"/>
            <a:ext cx="47798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Model Performance Comparison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8DAA7556-6783-D0D8-C53F-682ECB7C8C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256396"/>
              </p:ext>
            </p:extLst>
          </p:nvPr>
        </p:nvGraphicFramePr>
        <p:xfrm>
          <a:off x="4904143" y="958453"/>
          <a:ext cx="4448322" cy="2590800"/>
        </p:xfrm>
        <a:graphic>
          <a:graphicData uri="http://schemas.openxmlformats.org/drawingml/2006/table">
            <a:tbl>
              <a:tblPr/>
              <a:tblGrid>
                <a:gridCol w="1699857">
                  <a:extLst>
                    <a:ext uri="{9D8B030D-6E8A-4147-A177-3AD203B41FA5}">
                      <a16:colId xmlns:a16="http://schemas.microsoft.com/office/drawing/2014/main" val="3999609564"/>
                    </a:ext>
                  </a:extLst>
                </a:gridCol>
                <a:gridCol w="1178560">
                  <a:extLst>
                    <a:ext uri="{9D8B030D-6E8A-4147-A177-3AD203B41FA5}">
                      <a16:colId xmlns:a16="http://schemas.microsoft.com/office/drawing/2014/main" val="264010847"/>
                    </a:ext>
                  </a:extLst>
                </a:gridCol>
                <a:gridCol w="1569905">
                  <a:extLst>
                    <a:ext uri="{9D8B030D-6E8A-4147-A177-3AD203B41FA5}">
                      <a16:colId xmlns:a16="http://schemas.microsoft.com/office/drawing/2014/main" val="1590019280"/>
                    </a:ext>
                  </a:extLst>
                </a:gridCol>
              </a:tblGrid>
              <a:tr h="3187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ROC-AUC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5605399"/>
                  </a:ext>
                </a:extLst>
              </a:tr>
              <a:tr h="5578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0.582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0.610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755655"/>
                  </a:ext>
                </a:extLst>
              </a:tr>
              <a:tr h="3187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Decision Tree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0.600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0.638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396341"/>
                  </a:ext>
                </a:extLst>
              </a:tr>
              <a:tr h="3187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AdaBoost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0.608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0.654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730967"/>
                  </a:ext>
                </a:extLst>
              </a:tr>
              <a:tr h="3187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0.623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0.673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982162"/>
                  </a:ext>
                </a:extLst>
              </a:tr>
              <a:tr h="3187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 err="1"/>
                        <a:t>XGBoost</a:t>
                      </a:r>
                      <a:endParaRPr lang="en-IN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0.637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0.693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8098318"/>
                  </a:ext>
                </a:extLst>
              </a:tr>
              <a:tr h="3187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CatBoost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0.638</a:t>
                      </a:r>
                      <a:endParaRPr lang="en-IN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0.693</a:t>
                      </a:r>
                      <a:endParaRPr lang="en-IN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32213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FB58A8C7-A9BA-CCF4-CFFE-10B4D1E89A54}"/>
              </a:ext>
            </a:extLst>
          </p:cNvPr>
          <p:cNvSpPr txBox="1"/>
          <p:nvPr/>
        </p:nvSpPr>
        <p:spPr>
          <a:xfrm>
            <a:off x="116276" y="5506582"/>
            <a:ext cx="444518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buNone/>
              <a:defRPr sz="1200"/>
            </a:lvl1pPr>
          </a:lstStyle>
          <a:p>
            <a:pPr>
              <a:lnSpc>
                <a:spcPct val="100000"/>
              </a:lnSpc>
            </a:pPr>
            <a:r>
              <a:rPr lang="en-IN" b="1" dirty="0"/>
              <a:t>📈  ROC-AUC</a:t>
            </a:r>
          </a:p>
          <a:p>
            <a:pPr marL="263525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The Sorting Ability: </a:t>
            </a:r>
            <a:r>
              <a:rPr lang="en-IN" dirty="0"/>
              <a:t>How effectively the AI separates high-risk from low-risk groups.</a:t>
            </a:r>
          </a:p>
          <a:p>
            <a:pPr marL="263525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Business Value: </a:t>
            </a:r>
            <a:r>
              <a:rPr lang="en-IN" dirty="0"/>
              <a:t>Measures the model's true intelligence rather than lucky guesses.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225424CC-491E-6C7A-A53F-9A705AB656D7}"/>
              </a:ext>
            </a:extLst>
          </p:cNvPr>
          <p:cNvSpPr txBox="1"/>
          <p:nvPr/>
        </p:nvSpPr>
        <p:spPr>
          <a:xfrm>
            <a:off x="20320" y="491754"/>
            <a:ext cx="49220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What are the 5 Evaluation Metrics &amp; how it relates to our business?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388D28A3-3399-A709-7295-234A769B2FA2}"/>
              </a:ext>
            </a:extLst>
          </p:cNvPr>
          <p:cNvSpPr txBox="1"/>
          <p:nvPr/>
        </p:nvSpPr>
        <p:spPr>
          <a:xfrm>
            <a:off x="20320" y="1322751"/>
            <a:ext cx="4922070" cy="89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200" dirty="0"/>
              <a:t>🚨  </a:t>
            </a:r>
            <a:r>
              <a:rPr lang="en-IN" sz="1200" b="1" u="none" strike="noStrike" dirty="0">
                <a:effectLst/>
                <a:latin typeface="Google Sans"/>
              </a:rPr>
              <a:t>Accuracy</a:t>
            </a:r>
          </a:p>
          <a:p>
            <a:pPr marL="266700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b="1" u="none" strike="noStrike" dirty="0">
                <a:effectLst/>
                <a:latin typeface="Google Sans"/>
              </a:rPr>
              <a:t>The Scorecard:</a:t>
            </a:r>
            <a:r>
              <a:rPr lang="en-IN" sz="1200" b="0" u="none" strike="noStrike" dirty="0">
                <a:effectLst/>
                <a:latin typeface="Google Sans"/>
              </a:rPr>
              <a:t> The overall percentage of right guesses.</a:t>
            </a:r>
          </a:p>
          <a:p>
            <a:pPr marL="266700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b="1" u="none" strike="noStrike" dirty="0">
                <a:effectLst/>
                <a:latin typeface="Google Sans"/>
              </a:rPr>
              <a:t>Business Value:</a:t>
            </a:r>
            <a:r>
              <a:rPr lang="en-IN" sz="1200" b="0" u="none" strike="noStrike" dirty="0">
                <a:effectLst/>
                <a:latin typeface="Google Sans"/>
              </a:rPr>
              <a:t> Gives a quick snapshot of general model reliability.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BD055A3-B285-801E-C473-4C465A553024}"/>
              </a:ext>
            </a:extLst>
          </p:cNvPr>
          <p:cNvSpPr txBox="1"/>
          <p:nvPr/>
        </p:nvSpPr>
        <p:spPr>
          <a:xfrm>
            <a:off x="44627" y="2250938"/>
            <a:ext cx="472641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buNone/>
              <a:defRPr sz="1200"/>
            </a:lvl1pPr>
          </a:lstStyle>
          <a:p>
            <a:r>
              <a:rPr lang="en-IN" dirty="0"/>
              <a:t>🎯  </a:t>
            </a:r>
            <a:r>
              <a:rPr lang="en-IN" b="1" dirty="0"/>
              <a:t>Precision</a:t>
            </a:r>
          </a:p>
          <a:p>
            <a:pPr marL="269875" indent="-1778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Budget Protection: </a:t>
            </a:r>
            <a:r>
              <a:rPr lang="en-IN" dirty="0"/>
              <a:t>How often the model is right when it flags a customer.</a:t>
            </a:r>
          </a:p>
          <a:p>
            <a:pPr marL="269875" indent="-1778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Business Value: </a:t>
            </a:r>
            <a:r>
              <a:rPr lang="en-IN" dirty="0"/>
              <a:t>High precision prevents wasting expensive offers on happy customers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14498D34-F77C-7C50-5979-B7830E02424C}"/>
              </a:ext>
            </a:extLst>
          </p:cNvPr>
          <p:cNvSpPr txBox="1"/>
          <p:nvPr/>
        </p:nvSpPr>
        <p:spPr>
          <a:xfrm>
            <a:off x="103070" y="3324762"/>
            <a:ext cx="463112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buNone/>
              <a:defRPr sz="1200"/>
            </a:lvl1pPr>
          </a:lstStyle>
          <a:p>
            <a:r>
              <a:rPr lang="en-IN" dirty="0"/>
              <a:t>🎣 </a:t>
            </a:r>
            <a:r>
              <a:rPr lang="en-IN" b="1" dirty="0"/>
              <a:t>Recall</a:t>
            </a:r>
          </a:p>
          <a:p>
            <a:pPr marL="263525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The Safety Net: </a:t>
            </a:r>
            <a:r>
              <a:rPr lang="en-IN" dirty="0"/>
              <a:t>The percentage of actual churners the model  successfully caught.</a:t>
            </a:r>
          </a:p>
          <a:p>
            <a:pPr marL="263525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Business Value: </a:t>
            </a:r>
            <a:r>
              <a:rPr lang="en-IN" dirty="0"/>
              <a:t>High recall stops high-risk revenue from slipping through the cracks.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5CB75CBC-5D7A-7BAA-9670-885F74C05F59}"/>
              </a:ext>
            </a:extLst>
          </p:cNvPr>
          <p:cNvSpPr txBox="1"/>
          <p:nvPr/>
        </p:nvSpPr>
        <p:spPr>
          <a:xfrm>
            <a:off x="116276" y="4377590"/>
            <a:ext cx="438336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buNone/>
              <a:defRPr sz="1200"/>
            </a:lvl1pPr>
          </a:lstStyle>
          <a:p>
            <a:r>
              <a:rPr lang="en-IN" b="1" dirty="0"/>
              <a:t>⚖️ F1 Score</a:t>
            </a:r>
          </a:p>
          <a:p>
            <a:pPr marL="263525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The Balanced Scale: </a:t>
            </a:r>
            <a:r>
              <a:rPr lang="en-IN" dirty="0"/>
              <a:t>A single score combining Precision and Recall.</a:t>
            </a:r>
          </a:p>
          <a:p>
            <a:pPr marL="263525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Business Value: </a:t>
            </a:r>
            <a:r>
              <a:rPr lang="en-IN" dirty="0"/>
              <a:t>Proves the model catches maximum risk without overspending the budget.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4FC9B906-EE67-5137-4681-B7122093A7C7}"/>
              </a:ext>
            </a:extLst>
          </p:cNvPr>
          <p:cNvCxnSpPr/>
          <p:nvPr/>
        </p:nvCxnSpPr>
        <p:spPr>
          <a:xfrm>
            <a:off x="4800150" y="491754"/>
            <a:ext cx="0" cy="63083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AB48B88E-DE64-CEC5-D2E9-D1DC9F406A50}"/>
              </a:ext>
            </a:extLst>
          </p:cNvPr>
          <p:cNvCxnSpPr>
            <a:cxnSpLocks/>
          </p:cNvCxnSpPr>
          <p:nvPr/>
        </p:nvCxnSpPr>
        <p:spPr>
          <a:xfrm>
            <a:off x="9438375" y="491754"/>
            <a:ext cx="0" cy="44398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474823C7-5B0A-2024-8CB6-2A9D060E4940}"/>
              </a:ext>
            </a:extLst>
          </p:cNvPr>
          <p:cNvCxnSpPr>
            <a:cxnSpLocks/>
          </p:cNvCxnSpPr>
          <p:nvPr/>
        </p:nvCxnSpPr>
        <p:spPr>
          <a:xfrm>
            <a:off x="4904143" y="4913373"/>
            <a:ext cx="4534232" cy="182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Callout: Up Arrow 160">
            <a:extLst>
              <a:ext uri="{FF2B5EF4-FFF2-40B4-BE49-F238E27FC236}">
                <a16:creationId xmlns:a16="http://schemas.microsoft.com/office/drawing/2014/main" id="{09002FE6-DF69-6185-E6B3-7D31C7C6E07D}"/>
              </a:ext>
            </a:extLst>
          </p:cNvPr>
          <p:cNvSpPr/>
          <p:nvPr/>
        </p:nvSpPr>
        <p:spPr>
          <a:xfrm>
            <a:off x="8859521" y="4998074"/>
            <a:ext cx="3027679" cy="1524171"/>
          </a:xfrm>
          <a:prstGeom prst="upArrowCallout">
            <a:avLst>
              <a:gd name="adj1" fmla="val 25000"/>
              <a:gd name="adj2" fmla="val 27435"/>
              <a:gd name="adj3" fmla="val 25000"/>
              <a:gd name="adj4" fmla="val 64977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glow rad="101600">
              <a:schemeClr val="tx2">
                <a:lumMod val="50000"/>
                <a:lumOff val="50000"/>
                <a:alpha val="6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Features find by our </a:t>
            </a:r>
            <a:r>
              <a:rPr lang="en-IN" dirty="0" err="1">
                <a:solidFill>
                  <a:schemeClr val="bg1"/>
                </a:solidFill>
              </a:rPr>
              <a:t>catboost</a:t>
            </a:r>
            <a:r>
              <a:rPr lang="en-IN" dirty="0">
                <a:solidFill>
                  <a:schemeClr val="bg1"/>
                </a:solidFill>
              </a:rPr>
              <a:t> model </a:t>
            </a:r>
            <a:r>
              <a:rPr lang="en-IN" sz="2400" b="1" dirty="0">
                <a:solidFill>
                  <a:schemeClr val="bg1"/>
                </a:solidFill>
              </a:rPr>
              <a:t>validate</a:t>
            </a:r>
            <a:r>
              <a:rPr lang="en-IN" dirty="0">
                <a:solidFill>
                  <a:schemeClr val="bg1"/>
                </a:solidFill>
              </a:rPr>
              <a:t> our hypothesis for churn!</a:t>
            </a:r>
          </a:p>
        </p:txBody>
      </p:sp>
    </p:spTree>
    <p:extLst>
      <p:ext uri="{BB962C8B-B14F-4D97-AF65-F5344CB8AC3E}">
        <p14:creationId xmlns:p14="http://schemas.microsoft.com/office/powerpoint/2010/main" val="400773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CD5099-C5AA-3BF1-91BC-AE4F176C0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3" y="1052649"/>
            <a:ext cx="5710177" cy="572407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4E0710D-57B9-BB93-794A-F27D279196C9}"/>
              </a:ext>
            </a:extLst>
          </p:cNvPr>
          <p:cNvSpPr/>
          <p:nvPr/>
        </p:nvSpPr>
        <p:spPr>
          <a:xfrm>
            <a:off x="3503623" y="3782214"/>
            <a:ext cx="1563198" cy="9345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sz="105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NOTE: Data points towards right side means probability of churn increase and vice-versa for left side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489F95-5295-8D14-4145-227124B3029D}"/>
              </a:ext>
            </a:extLst>
          </p:cNvPr>
          <p:cNvSpPr txBox="1"/>
          <p:nvPr/>
        </p:nvSpPr>
        <p:spPr>
          <a:xfrm>
            <a:off x="20320" y="540757"/>
            <a:ext cx="3220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Global SHAP Analysis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3D02E07-FC10-EE45-0935-673BA1CFB2B3}"/>
              </a:ext>
            </a:extLst>
          </p:cNvPr>
          <p:cNvGrpSpPr/>
          <p:nvPr/>
        </p:nvGrpSpPr>
        <p:grpSpPr>
          <a:xfrm>
            <a:off x="20320" y="81280"/>
            <a:ext cx="12110720" cy="375920"/>
            <a:chOff x="436880" y="101600"/>
            <a:chExt cx="11684000" cy="589280"/>
          </a:xfrm>
        </p:grpSpPr>
        <p:sp>
          <p:nvSpPr>
            <p:cNvPr id="11" name="Arrow: Chevron 10">
              <a:extLst>
                <a:ext uri="{FF2B5EF4-FFF2-40B4-BE49-F238E27FC236}">
                  <a16:creationId xmlns:a16="http://schemas.microsoft.com/office/drawing/2014/main" id="{DBA609A0-427C-8DB4-06A6-1FE3227BC897}"/>
                </a:ext>
              </a:extLst>
            </p:cNvPr>
            <p:cNvSpPr/>
            <p:nvPr/>
          </p:nvSpPr>
          <p:spPr>
            <a:xfrm>
              <a:off x="436880" y="101600"/>
              <a:ext cx="2783840" cy="589280"/>
            </a:xfrm>
            <a:prstGeom prst="chevron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tx1"/>
                  </a:solidFill>
                </a:rPr>
                <a:t>PLAN</a:t>
              </a:r>
            </a:p>
          </p:txBody>
        </p:sp>
        <p:sp>
          <p:nvSpPr>
            <p:cNvPr id="12" name="Arrow: Chevron 11">
              <a:extLst>
                <a:ext uri="{FF2B5EF4-FFF2-40B4-BE49-F238E27FC236}">
                  <a16:creationId xmlns:a16="http://schemas.microsoft.com/office/drawing/2014/main" id="{0811F9AD-8A39-C994-3B3D-6661CEC04F8E}"/>
                </a:ext>
              </a:extLst>
            </p:cNvPr>
            <p:cNvSpPr/>
            <p:nvPr/>
          </p:nvSpPr>
          <p:spPr>
            <a:xfrm>
              <a:off x="3403600" y="101600"/>
              <a:ext cx="2783840" cy="589280"/>
            </a:xfrm>
            <a:prstGeom prst="chevron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tx1"/>
                  </a:solidFill>
                </a:rPr>
                <a:t>DO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Arrow: Chevron 12">
              <a:extLst>
                <a:ext uri="{FF2B5EF4-FFF2-40B4-BE49-F238E27FC236}">
                  <a16:creationId xmlns:a16="http://schemas.microsoft.com/office/drawing/2014/main" id="{4501B869-D8F0-9E02-9148-ED1910F93CC6}"/>
                </a:ext>
              </a:extLst>
            </p:cNvPr>
            <p:cNvSpPr/>
            <p:nvPr/>
          </p:nvSpPr>
          <p:spPr>
            <a:xfrm>
              <a:off x="6370320" y="101600"/>
              <a:ext cx="2783840" cy="589280"/>
            </a:xfrm>
            <a:prstGeom prst="chevron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tx1"/>
                  </a:solidFill>
                </a:rPr>
                <a:t>CHECK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Arrow: Chevron 13">
              <a:extLst>
                <a:ext uri="{FF2B5EF4-FFF2-40B4-BE49-F238E27FC236}">
                  <a16:creationId xmlns:a16="http://schemas.microsoft.com/office/drawing/2014/main" id="{BC18A1F2-5F46-8619-1E35-62EA1FDE99A7}"/>
                </a:ext>
              </a:extLst>
            </p:cNvPr>
            <p:cNvSpPr/>
            <p:nvPr/>
          </p:nvSpPr>
          <p:spPr>
            <a:xfrm>
              <a:off x="9337040" y="101600"/>
              <a:ext cx="2783840" cy="589280"/>
            </a:xfrm>
            <a:prstGeom prst="chevron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tx1"/>
                  </a:solidFill>
                </a:rPr>
                <a:t>ACT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B0CBE7B-20C1-DF45-BCA8-33F54D3866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618331"/>
              </p:ext>
            </p:extLst>
          </p:nvPr>
        </p:nvGraphicFramePr>
        <p:xfrm>
          <a:off x="8630236" y="560768"/>
          <a:ext cx="3434081" cy="2888724"/>
        </p:xfrm>
        <a:graphic>
          <a:graphicData uri="http://schemas.openxmlformats.org/drawingml/2006/table">
            <a:tbl>
              <a:tblPr/>
              <a:tblGrid>
                <a:gridCol w="1676569">
                  <a:extLst>
                    <a:ext uri="{9D8B030D-6E8A-4147-A177-3AD203B41FA5}">
                      <a16:colId xmlns:a16="http://schemas.microsoft.com/office/drawing/2014/main" val="2939312101"/>
                    </a:ext>
                  </a:extLst>
                </a:gridCol>
                <a:gridCol w="889515">
                  <a:extLst>
                    <a:ext uri="{9D8B030D-6E8A-4147-A177-3AD203B41FA5}">
                      <a16:colId xmlns:a16="http://schemas.microsoft.com/office/drawing/2014/main" val="2445327209"/>
                    </a:ext>
                  </a:extLst>
                </a:gridCol>
                <a:gridCol w="867997">
                  <a:extLst>
                    <a:ext uri="{9D8B030D-6E8A-4147-A177-3AD203B41FA5}">
                      <a16:colId xmlns:a16="http://schemas.microsoft.com/office/drawing/2014/main" val="3005765757"/>
                    </a:ext>
                  </a:extLst>
                </a:gridCol>
              </a:tblGrid>
              <a:tr h="219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>
                          <a:effectLst/>
                        </a:rPr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 err="1">
                          <a:effectLst/>
                        </a:rPr>
                        <a:t>shap</a:t>
                      </a:r>
                      <a:endParaRPr lang="en-IN" sz="1100" b="1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>
                          <a:effectLst/>
                        </a:rPr>
                        <a:t>abs_shap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432515"/>
                  </a:ext>
                </a:extLst>
              </a:tr>
              <a:tr h="219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 err="1">
                          <a:effectLst/>
                        </a:rPr>
                        <a:t>num</a:t>
                      </a:r>
                      <a:r>
                        <a:rPr lang="en-IN" sz="1100" dirty="0">
                          <a:effectLst/>
                        </a:rPr>
                        <a:t>__</a:t>
                      </a:r>
                      <a:r>
                        <a:rPr lang="en-IN" sz="1100" dirty="0" err="1">
                          <a:effectLst/>
                        </a:rPr>
                        <a:t>roam_Mean</a:t>
                      </a:r>
                      <a:endParaRPr lang="en-IN" sz="11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0.370870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0.370870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055738"/>
                  </a:ext>
                </a:extLst>
              </a:tr>
              <a:tr h="219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 err="1">
                          <a:effectLst/>
                        </a:rPr>
                        <a:t>num</a:t>
                      </a:r>
                      <a:r>
                        <a:rPr lang="en-IN" sz="1100" dirty="0">
                          <a:effectLst/>
                        </a:rPr>
                        <a:t>__</a:t>
                      </a:r>
                      <a:r>
                        <a:rPr lang="en-IN" sz="1100" dirty="0" err="1">
                          <a:effectLst/>
                        </a:rPr>
                        <a:t>change_rev</a:t>
                      </a:r>
                      <a:endParaRPr lang="en-IN" sz="11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0.308954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0.308954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9056906"/>
                  </a:ext>
                </a:extLst>
              </a:tr>
              <a:tr h="2720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 err="1">
                          <a:effectLst/>
                        </a:rPr>
                        <a:t>num</a:t>
                      </a:r>
                      <a:r>
                        <a:rPr lang="en-IN" sz="1100" dirty="0">
                          <a:effectLst/>
                        </a:rPr>
                        <a:t>__</a:t>
                      </a:r>
                      <a:r>
                        <a:rPr lang="en-IN" sz="1100" dirty="0" err="1">
                          <a:effectLst/>
                        </a:rPr>
                        <a:t>eqpdays</a:t>
                      </a:r>
                      <a:endParaRPr lang="en-IN" sz="11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-0.243799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0.243799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613989"/>
                  </a:ext>
                </a:extLst>
              </a:tr>
              <a:tr h="219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num__rev_Mean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0.208404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0.208404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3536811"/>
                  </a:ext>
                </a:extLst>
              </a:tr>
              <a:tr h="2720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cat__</a:t>
                      </a:r>
                      <a:r>
                        <a:rPr lang="en-IN" sz="1100" dirty="0" err="1">
                          <a:effectLst/>
                        </a:rPr>
                        <a:t>crclscod_EA</a:t>
                      </a:r>
                      <a:endParaRPr lang="en-IN" sz="11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-0.188831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0.188831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547277"/>
                  </a:ext>
                </a:extLst>
              </a:tr>
              <a:tr h="219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num__totmrc_Mean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0.182956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0.182956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0944221"/>
                  </a:ext>
                </a:extLst>
              </a:tr>
              <a:tr h="2720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 err="1">
                          <a:effectLst/>
                        </a:rPr>
                        <a:t>num</a:t>
                      </a:r>
                      <a:r>
                        <a:rPr lang="en-IN" sz="1100" dirty="0">
                          <a:effectLst/>
                        </a:rPr>
                        <a:t>__</a:t>
                      </a:r>
                      <a:r>
                        <a:rPr lang="en-IN" sz="1100" dirty="0" err="1">
                          <a:effectLst/>
                        </a:rPr>
                        <a:t>mou_Mean</a:t>
                      </a:r>
                      <a:endParaRPr lang="en-IN" sz="11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-0.177654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0.177654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379046"/>
                  </a:ext>
                </a:extLst>
              </a:tr>
              <a:tr h="219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num__drop_blk_Mean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0.089210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0.089210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35818"/>
                  </a:ext>
                </a:extLst>
              </a:tr>
              <a:tr h="219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 err="1">
                          <a:effectLst/>
                        </a:rPr>
                        <a:t>num</a:t>
                      </a:r>
                      <a:r>
                        <a:rPr lang="en-IN" sz="1100" dirty="0">
                          <a:effectLst/>
                        </a:rPr>
                        <a:t>__</a:t>
                      </a:r>
                      <a:r>
                        <a:rPr lang="en-IN" sz="1100" dirty="0" err="1">
                          <a:effectLst/>
                        </a:rPr>
                        <a:t>drop_vce_Mean</a:t>
                      </a:r>
                      <a:endParaRPr lang="en-IN" sz="11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0.079699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0.079699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149312"/>
                  </a:ext>
                </a:extLst>
              </a:tr>
              <a:tr h="219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 err="1">
                          <a:effectLst/>
                        </a:rPr>
                        <a:t>num</a:t>
                      </a:r>
                      <a:r>
                        <a:rPr lang="en-IN" sz="1100" dirty="0">
                          <a:effectLst/>
                        </a:rPr>
                        <a:t>__</a:t>
                      </a:r>
                      <a:r>
                        <a:rPr lang="en-IN" sz="1100" dirty="0" err="1">
                          <a:effectLst/>
                        </a:rPr>
                        <a:t>avgrev</a:t>
                      </a:r>
                      <a:endParaRPr lang="en-IN" sz="11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0.076336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0.076336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721670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31BC091B-E36C-4CF4-E9E6-117C4FBD11CD}"/>
              </a:ext>
            </a:extLst>
          </p:cNvPr>
          <p:cNvSpPr txBox="1"/>
          <p:nvPr/>
        </p:nvSpPr>
        <p:spPr>
          <a:xfrm>
            <a:off x="5869139" y="2400968"/>
            <a:ext cx="2543339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1400" b="0" i="0" dirty="0">
                <a:effectLst/>
              </a:rPr>
              <a:t>Index: 39170 </a:t>
            </a:r>
            <a:r>
              <a:rPr lang="en-IN" sz="1200" b="0" i="0" dirty="0">
                <a:effectLst/>
              </a:rPr>
              <a:t>(Highest Roaming)</a:t>
            </a:r>
          </a:p>
          <a:p>
            <a:pPr algn="l">
              <a:buNone/>
            </a:pPr>
            <a:r>
              <a:rPr lang="en-IN" sz="1400" b="0" i="0" dirty="0">
                <a:effectLst/>
              </a:rPr>
              <a:t>Customer ID: 1039171</a:t>
            </a:r>
          </a:p>
          <a:p>
            <a:pPr algn="l">
              <a:buNone/>
            </a:pPr>
            <a:r>
              <a:rPr lang="en-IN" sz="1400" b="0" i="0" dirty="0">
                <a:effectLst/>
              </a:rPr>
              <a:t>Actual Churn: 1</a:t>
            </a:r>
          </a:p>
          <a:p>
            <a:pPr algn="l">
              <a:buNone/>
            </a:pPr>
            <a:r>
              <a:rPr lang="en-IN" sz="1400" b="0" i="0" dirty="0">
                <a:effectLst/>
              </a:rPr>
              <a:t>Predicted Churn Prob: 0.7162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FB99849-5D42-D529-1665-A92BB46195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774274"/>
              </p:ext>
            </p:extLst>
          </p:nvPr>
        </p:nvGraphicFramePr>
        <p:xfrm>
          <a:off x="8630237" y="3645330"/>
          <a:ext cx="3434080" cy="3131390"/>
        </p:xfrm>
        <a:graphic>
          <a:graphicData uri="http://schemas.openxmlformats.org/drawingml/2006/table">
            <a:tbl>
              <a:tblPr/>
              <a:tblGrid>
                <a:gridCol w="1572379">
                  <a:extLst>
                    <a:ext uri="{9D8B030D-6E8A-4147-A177-3AD203B41FA5}">
                      <a16:colId xmlns:a16="http://schemas.microsoft.com/office/drawing/2014/main" val="1243804952"/>
                    </a:ext>
                  </a:extLst>
                </a:gridCol>
                <a:gridCol w="905429">
                  <a:extLst>
                    <a:ext uri="{9D8B030D-6E8A-4147-A177-3AD203B41FA5}">
                      <a16:colId xmlns:a16="http://schemas.microsoft.com/office/drawing/2014/main" val="3250905055"/>
                    </a:ext>
                  </a:extLst>
                </a:gridCol>
                <a:gridCol w="956272">
                  <a:extLst>
                    <a:ext uri="{9D8B030D-6E8A-4147-A177-3AD203B41FA5}">
                      <a16:colId xmlns:a16="http://schemas.microsoft.com/office/drawing/2014/main" val="1743621277"/>
                    </a:ext>
                  </a:extLst>
                </a:gridCol>
              </a:tblGrid>
              <a:tr h="215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b="1" dirty="0">
                          <a:effectLst/>
                        </a:rPr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b="1" dirty="0" err="1">
                          <a:effectLst/>
                        </a:rPr>
                        <a:t>shap</a:t>
                      </a:r>
                      <a:endParaRPr lang="en-IN" sz="1050" b="1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b="1">
                          <a:effectLst/>
                        </a:rPr>
                        <a:t>abs_shap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3446691"/>
                  </a:ext>
                </a:extLst>
              </a:tr>
              <a:tr h="215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 err="1">
                          <a:effectLst/>
                        </a:rPr>
                        <a:t>num</a:t>
                      </a:r>
                      <a:r>
                        <a:rPr lang="en-IN" sz="1050" dirty="0">
                          <a:effectLst/>
                        </a:rPr>
                        <a:t>__</a:t>
                      </a:r>
                      <a:r>
                        <a:rPr lang="en-IN" sz="1050" dirty="0" err="1">
                          <a:effectLst/>
                        </a:rPr>
                        <a:t>change_mou</a:t>
                      </a:r>
                      <a:endParaRPr lang="en-IN" sz="105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>
                          <a:effectLst/>
                        </a:rPr>
                        <a:t>0.428342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>
                          <a:effectLst/>
                        </a:rPr>
                        <a:t>0.428342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59647"/>
                  </a:ext>
                </a:extLst>
              </a:tr>
              <a:tr h="359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num__blck_dat_Mean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-0.240847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0.240847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0066591"/>
                  </a:ext>
                </a:extLst>
              </a:tr>
              <a:tr h="215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 err="1">
                          <a:effectLst/>
                        </a:rPr>
                        <a:t>num</a:t>
                      </a:r>
                      <a:r>
                        <a:rPr lang="en-IN" sz="1050" dirty="0">
                          <a:effectLst/>
                        </a:rPr>
                        <a:t>__</a:t>
                      </a:r>
                      <a:r>
                        <a:rPr lang="en-IN" sz="1050" dirty="0" err="1">
                          <a:effectLst/>
                        </a:rPr>
                        <a:t>mou_Mean</a:t>
                      </a:r>
                      <a:endParaRPr lang="en-IN" sz="105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>
                          <a:effectLst/>
                        </a:rPr>
                        <a:t>-0.216244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>
                          <a:effectLst/>
                        </a:rPr>
                        <a:t>0.216244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636214"/>
                  </a:ext>
                </a:extLst>
              </a:tr>
              <a:tr h="215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num__eqpdays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-0.178926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0.178926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151461"/>
                  </a:ext>
                </a:extLst>
              </a:tr>
              <a:tr h="215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 err="1">
                          <a:effectLst/>
                        </a:rPr>
                        <a:t>num</a:t>
                      </a:r>
                      <a:r>
                        <a:rPr lang="en-IN" sz="1050" dirty="0">
                          <a:effectLst/>
                        </a:rPr>
                        <a:t>__</a:t>
                      </a:r>
                      <a:r>
                        <a:rPr lang="en-IN" sz="1050" dirty="0" err="1">
                          <a:effectLst/>
                        </a:rPr>
                        <a:t>totmrc_Mean</a:t>
                      </a:r>
                      <a:endParaRPr lang="en-IN" sz="105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>
                          <a:effectLst/>
                        </a:rPr>
                        <a:t>-0.159340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>
                          <a:effectLst/>
                        </a:rPr>
                        <a:t>0.159340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7110289"/>
                  </a:ext>
                </a:extLst>
              </a:tr>
              <a:tr h="5026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cat__area_DC/MARYLAND/VIRGINIA AREA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-0.143765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0.143765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7317080"/>
                  </a:ext>
                </a:extLst>
              </a:tr>
              <a:tr h="215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 err="1">
                          <a:effectLst/>
                        </a:rPr>
                        <a:t>num</a:t>
                      </a:r>
                      <a:r>
                        <a:rPr lang="en-IN" sz="1050" dirty="0">
                          <a:effectLst/>
                        </a:rPr>
                        <a:t>__</a:t>
                      </a:r>
                      <a:r>
                        <a:rPr lang="en-IN" sz="1050" dirty="0" err="1">
                          <a:effectLst/>
                        </a:rPr>
                        <a:t>hnd_price</a:t>
                      </a:r>
                      <a:endParaRPr lang="en-IN" sz="105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>
                          <a:effectLst/>
                        </a:rPr>
                        <a:t>-0.134463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>
                          <a:effectLst/>
                        </a:rPr>
                        <a:t>0.134463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403815"/>
                  </a:ext>
                </a:extLst>
              </a:tr>
              <a:tr h="215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num__avgrev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>
                          <a:effectLst/>
                        </a:rPr>
                        <a:t>0.125865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>
                          <a:effectLst/>
                        </a:rPr>
                        <a:t>0.125865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7286774"/>
                  </a:ext>
                </a:extLst>
              </a:tr>
              <a:tr h="215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 err="1">
                          <a:effectLst/>
                        </a:rPr>
                        <a:t>num</a:t>
                      </a:r>
                      <a:r>
                        <a:rPr lang="en-IN" sz="1050" dirty="0">
                          <a:effectLst/>
                        </a:rPr>
                        <a:t>__lor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>
                          <a:effectLst/>
                        </a:rPr>
                        <a:t>0.112255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>
                          <a:effectLst/>
                        </a:rPr>
                        <a:t>0.112255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822431"/>
                  </a:ext>
                </a:extLst>
              </a:tr>
              <a:tr h="2580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 err="1">
                          <a:effectLst/>
                        </a:rPr>
                        <a:t>num</a:t>
                      </a:r>
                      <a:r>
                        <a:rPr lang="en-IN" sz="1050" dirty="0">
                          <a:effectLst/>
                        </a:rPr>
                        <a:t>__</a:t>
                      </a:r>
                      <a:r>
                        <a:rPr lang="en-IN" sz="1050" dirty="0" err="1">
                          <a:effectLst/>
                        </a:rPr>
                        <a:t>mou_pead_Mean</a:t>
                      </a:r>
                      <a:endParaRPr lang="en-IN" sz="105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>
                          <a:effectLst/>
                        </a:rPr>
                        <a:t>0.106668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>
                          <a:effectLst/>
                        </a:rPr>
                        <a:t>0.106668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1852939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50779E9D-FB7A-9BF3-729E-6DB26BFDA8BB}"/>
              </a:ext>
            </a:extLst>
          </p:cNvPr>
          <p:cNvSpPr txBox="1"/>
          <p:nvPr/>
        </p:nvSpPr>
        <p:spPr>
          <a:xfrm>
            <a:off x="5960580" y="5805351"/>
            <a:ext cx="2445337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1400" b="0" i="0" dirty="0">
                <a:effectLst/>
              </a:rPr>
              <a:t>Index: 55550 </a:t>
            </a:r>
            <a:r>
              <a:rPr lang="en-IN" sz="900" b="0" i="0" dirty="0">
                <a:effectLst/>
              </a:rPr>
              <a:t>(Highest Data Overage)</a:t>
            </a:r>
            <a:endParaRPr lang="en-IN" sz="1400" b="0" i="0" dirty="0">
              <a:effectLst/>
            </a:endParaRPr>
          </a:p>
          <a:p>
            <a:pPr algn="l">
              <a:buNone/>
            </a:pPr>
            <a:r>
              <a:rPr lang="en-IN" sz="1400" b="0" i="0" dirty="0">
                <a:effectLst/>
              </a:rPr>
              <a:t>Customer ID: 1055551</a:t>
            </a:r>
          </a:p>
          <a:p>
            <a:pPr algn="l">
              <a:buNone/>
            </a:pPr>
            <a:r>
              <a:rPr lang="en-IN" sz="1400" b="0" i="0" dirty="0">
                <a:effectLst/>
              </a:rPr>
              <a:t>Actual Churn: 1</a:t>
            </a:r>
          </a:p>
          <a:p>
            <a:pPr algn="l">
              <a:buNone/>
            </a:pPr>
            <a:r>
              <a:rPr lang="en-IN" sz="1400" b="0" i="0" dirty="0">
                <a:effectLst/>
              </a:rPr>
              <a:t>Predicted Churn Prob: 0.4857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82A708-E412-6ABA-E203-1A2BF9021486}"/>
              </a:ext>
            </a:extLst>
          </p:cNvPr>
          <p:cNvSpPr txBox="1"/>
          <p:nvPr/>
        </p:nvSpPr>
        <p:spPr>
          <a:xfrm>
            <a:off x="5876875" y="569513"/>
            <a:ext cx="2529042" cy="16158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100" b="1" dirty="0"/>
              <a:t>Important Nomenclature</a:t>
            </a:r>
            <a:br>
              <a:rPr lang="en-IN" sz="1100" dirty="0"/>
            </a:br>
            <a:r>
              <a:rPr lang="en-IN" sz="1100" dirty="0" err="1"/>
              <a:t>num</a:t>
            </a:r>
            <a:r>
              <a:rPr lang="en-IN" sz="1100" dirty="0"/>
              <a:t> = numerical features</a:t>
            </a:r>
          </a:p>
          <a:p>
            <a:r>
              <a:rPr lang="en-IN" sz="1100" dirty="0"/>
              <a:t>Cat=categorical features</a:t>
            </a:r>
            <a:br>
              <a:rPr lang="en-IN" sz="1100" dirty="0"/>
            </a:br>
            <a:r>
              <a:rPr lang="en-IN" sz="1100" dirty="0"/>
              <a:t>roam=roaming</a:t>
            </a:r>
          </a:p>
          <a:p>
            <a:r>
              <a:rPr lang="en-IN" sz="1100" dirty="0"/>
              <a:t>rev=revenue</a:t>
            </a:r>
          </a:p>
          <a:p>
            <a:r>
              <a:rPr lang="en-IN" sz="1100" dirty="0"/>
              <a:t>eqp=equipment</a:t>
            </a:r>
          </a:p>
          <a:p>
            <a:r>
              <a:rPr lang="en-IN" sz="1100" dirty="0" err="1"/>
              <a:t>blk</a:t>
            </a:r>
            <a:r>
              <a:rPr lang="en-IN" sz="1100" dirty="0"/>
              <a:t>=blocked</a:t>
            </a:r>
            <a:br>
              <a:rPr lang="en-IN" sz="1100" dirty="0"/>
            </a:br>
            <a:r>
              <a:rPr lang="en-IN" sz="1100" dirty="0" err="1"/>
              <a:t>vce</a:t>
            </a:r>
            <a:r>
              <a:rPr lang="en-IN" sz="1100" dirty="0"/>
              <a:t>=voice</a:t>
            </a:r>
          </a:p>
          <a:p>
            <a:r>
              <a:rPr lang="en-IN" sz="1100" dirty="0" err="1"/>
              <a:t>hnd</a:t>
            </a:r>
            <a:r>
              <a:rPr lang="en-IN" sz="1100" dirty="0"/>
              <a:t>=handheld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D50C769-5FB5-43CA-07A0-06C0236C36EE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8412478" y="2878022"/>
            <a:ext cx="2177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5514AA8-C8EC-E1DC-0BA2-DB5F1BDF0D8F}"/>
              </a:ext>
            </a:extLst>
          </p:cNvPr>
          <p:cNvCxnSpPr>
            <a:cxnSpLocks/>
          </p:cNvCxnSpPr>
          <p:nvPr/>
        </p:nvCxnSpPr>
        <p:spPr>
          <a:xfrm>
            <a:off x="8412478" y="6252952"/>
            <a:ext cx="2177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36F636F-8810-1A93-6AE5-DE2C6600B077}"/>
              </a:ext>
            </a:extLst>
          </p:cNvPr>
          <p:cNvSpPr txBox="1"/>
          <p:nvPr/>
        </p:nvSpPr>
        <p:spPr>
          <a:xfrm>
            <a:off x="6089439" y="3597978"/>
            <a:ext cx="2316478" cy="1754326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solidFill>
                  <a:schemeClr val="bg1"/>
                </a:solidFill>
              </a:rPr>
              <a:t>As per Global SHAP analysis, </a:t>
            </a:r>
            <a:r>
              <a:rPr lang="en-IN" dirty="0" err="1">
                <a:solidFill>
                  <a:schemeClr val="bg1"/>
                </a:solidFill>
              </a:rPr>
              <a:t>eqpdays</a:t>
            </a:r>
            <a:r>
              <a:rPr lang="en-IN" dirty="0">
                <a:solidFill>
                  <a:schemeClr val="bg1"/>
                </a:solidFill>
              </a:rPr>
              <a:t> is the most imp factor. Red points on right side indicates high chances of churn</a:t>
            </a:r>
          </a:p>
        </p:txBody>
      </p: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7883000C-79E8-A364-5EB6-E9C1C542B080}"/>
              </a:ext>
            </a:extLst>
          </p:cNvPr>
          <p:cNvCxnSpPr>
            <a:cxnSpLocks/>
          </p:cNvCxnSpPr>
          <p:nvPr/>
        </p:nvCxnSpPr>
        <p:spPr>
          <a:xfrm rot="10800000">
            <a:off x="1702885" y="1505697"/>
            <a:ext cx="4386554" cy="2226289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9CF92165-1993-D61F-0E1F-A7C0C5C28304}"/>
              </a:ext>
            </a:extLst>
          </p:cNvPr>
          <p:cNvSpPr/>
          <p:nvPr/>
        </p:nvSpPr>
        <p:spPr>
          <a:xfrm>
            <a:off x="11753907" y="6481736"/>
            <a:ext cx="36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263720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A5309-0300-685E-FC57-EDBD60757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15C837-7D36-7266-23B7-4922F077288D}"/>
              </a:ext>
            </a:extLst>
          </p:cNvPr>
          <p:cNvSpPr txBox="1"/>
          <p:nvPr/>
        </p:nvSpPr>
        <p:spPr>
          <a:xfrm>
            <a:off x="74460" y="43444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Customer Risk Segmentation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81ABCF-7AAE-D16C-D62C-70D1B2919B2C}"/>
              </a:ext>
            </a:extLst>
          </p:cNvPr>
          <p:cNvSpPr txBox="1"/>
          <p:nvPr/>
        </p:nvSpPr>
        <p:spPr>
          <a:xfrm>
            <a:off x="74460" y="834627"/>
            <a:ext cx="44162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/>
              <a:t>Decile Analysis </a:t>
            </a:r>
            <a:r>
              <a:rPr lang="en-IN" dirty="0"/>
              <a:t>is</a:t>
            </a:r>
            <a:r>
              <a:rPr lang="en-IN" b="1" dirty="0"/>
              <a:t> </a:t>
            </a:r>
            <a:r>
              <a:rPr lang="en-IN" dirty="0"/>
              <a:t>a statistical method that sorts a dataset and divides it into 10 equally sized groups and identify high or low-value trends. </a:t>
            </a:r>
            <a:r>
              <a:rPr lang="en-IN" b="1" dirty="0"/>
              <a:t>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20029EF-D725-BFF4-9FC2-2F971E9D14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165352"/>
              </p:ext>
            </p:extLst>
          </p:nvPr>
        </p:nvGraphicFramePr>
        <p:xfrm>
          <a:off x="157482" y="2014874"/>
          <a:ext cx="4272277" cy="1097280"/>
        </p:xfrm>
        <a:graphic>
          <a:graphicData uri="http://schemas.openxmlformats.org/drawingml/2006/table">
            <a:tbl>
              <a:tblPr/>
              <a:tblGrid>
                <a:gridCol w="2151796">
                  <a:extLst>
                    <a:ext uri="{9D8B030D-6E8A-4147-A177-3AD203B41FA5}">
                      <a16:colId xmlns:a16="http://schemas.microsoft.com/office/drawing/2014/main" val="3756615902"/>
                    </a:ext>
                  </a:extLst>
                </a:gridCol>
                <a:gridCol w="2120481">
                  <a:extLst>
                    <a:ext uri="{9D8B030D-6E8A-4147-A177-3AD203B41FA5}">
                      <a16:colId xmlns:a16="http://schemas.microsoft.com/office/drawing/2014/main" val="11364433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Segment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Churn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519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Lowest Risk 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19.5%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458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Highest Risk 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77.9%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049762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E2D990F-76CD-C804-1EBF-B201E7159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82" y="3203571"/>
            <a:ext cx="4333238" cy="21751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95E2BA-8CE7-E779-941E-DECE870FD06E}"/>
              </a:ext>
            </a:extLst>
          </p:cNvPr>
          <p:cNvSpPr txBox="1"/>
          <p:nvPr/>
        </p:nvSpPr>
        <p:spPr>
          <a:xfrm>
            <a:off x="96520" y="5243285"/>
            <a:ext cx="43942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Key Insight</a:t>
            </a:r>
          </a:p>
          <a:p>
            <a:pPr>
              <a:buNone/>
            </a:pPr>
            <a:r>
              <a:rPr lang="en-IN" sz="1600" dirty="0"/>
              <a:t>Customers in the highest-risk segment are approximately 4x more likely to churn than customers in the lowest-risk segment.</a:t>
            </a:r>
          </a:p>
          <a:p>
            <a:pPr>
              <a:buNone/>
            </a:pPr>
            <a:r>
              <a:rPr lang="en-IN" sz="1600" b="1" dirty="0"/>
              <a:t>Business Value: </a:t>
            </a:r>
            <a:r>
              <a:rPr lang="en-IN" sz="1600" dirty="0"/>
              <a:t>Target retention resources where they matter most.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F0A06D-0107-EE1A-8AB4-546B68072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687424"/>
              </p:ext>
            </p:extLst>
          </p:nvPr>
        </p:nvGraphicFramePr>
        <p:xfrm>
          <a:off x="4734562" y="964060"/>
          <a:ext cx="7379345" cy="1295400"/>
        </p:xfrm>
        <a:graphic>
          <a:graphicData uri="http://schemas.openxmlformats.org/drawingml/2006/table">
            <a:tbl>
              <a:tblPr/>
              <a:tblGrid>
                <a:gridCol w="2120003">
                  <a:extLst>
                    <a:ext uri="{9D8B030D-6E8A-4147-A177-3AD203B41FA5}">
                      <a16:colId xmlns:a16="http://schemas.microsoft.com/office/drawing/2014/main" val="3849711210"/>
                    </a:ext>
                  </a:extLst>
                </a:gridCol>
                <a:gridCol w="1070145">
                  <a:extLst>
                    <a:ext uri="{9D8B030D-6E8A-4147-A177-3AD203B41FA5}">
                      <a16:colId xmlns:a16="http://schemas.microsoft.com/office/drawing/2014/main" val="1557439031"/>
                    </a:ext>
                  </a:extLst>
                </a:gridCol>
                <a:gridCol w="1904943">
                  <a:extLst>
                    <a:ext uri="{9D8B030D-6E8A-4147-A177-3AD203B41FA5}">
                      <a16:colId xmlns:a16="http://schemas.microsoft.com/office/drawing/2014/main" val="639228957"/>
                    </a:ext>
                  </a:extLst>
                </a:gridCol>
                <a:gridCol w="2284254">
                  <a:extLst>
                    <a:ext uri="{9D8B030D-6E8A-4147-A177-3AD203B41FA5}">
                      <a16:colId xmlns:a16="http://schemas.microsoft.com/office/drawing/2014/main" val="1070791889"/>
                    </a:ext>
                  </a:extLst>
                </a:gridCol>
              </a:tblGrid>
              <a:tr h="1292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/>
                        <a:t>Customer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/>
                        <a:t>Churn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/>
                        <a:t>Root Cause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/>
                        <a:t>Recommendation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3515132"/>
                  </a:ext>
                </a:extLst>
              </a:tr>
              <a:tr h="1292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High Roaming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/>
                        <a:t>71.6%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Roaming Costs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Traveler Package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734028"/>
                  </a:ext>
                </a:extLst>
              </a:tr>
              <a:tr h="1292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/>
                        <a:t>High Overage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/>
                        <a:t>45.5%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Billing Shock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Plan Optimization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072610"/>
                  </a:ext>
                </a:extLst>
              </a:tr>
              <a:tr h="1292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High Data Overage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/>
                        <a:t>48.6%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Usage Decline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Retention Outreach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13206"/>
                  </a:ext>
                </a:extLst>
              </a:tr>
              <a:tr h="1292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/>
                        <a:t>Old Device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17.9%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Loyal &amp; Stable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No Intervention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447533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C89FA4B-3812-E7E4-A744-EB8CE3EAFD89}"/>
              </a:ext>
            </a:extLst>
          </p:cNvPr>
          <p:cNvSpPr txBox="1"/>
          <p:nvPr/>
        </p:nvSpPr>
        <p:spPr>
          <a:xfrm>
            <a:off x="4612638" y="431265"/>
            <a:ext cx="76708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Personalized Customer Personas (SHAP Case Studies</a:t>
            </a:r>
            <a:r>
              <a:rPr lang="en-IN" b="1" dirty="0"/>
              <a:t>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42C22C5-0543-18FF-4917-66992B6A0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695" y="2327412"/>
            <a:ext cx="7379345" cy="388017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8E1418F-2311-7825-2501-C4ABB7DA2DD1}"/>
              </a:ext>
            </a:extLst>
          </p:cNvPr>
          <p:cNvSpPr/>
          <p:nvPr/>
        </p:nvSpPr>
        <p:spPr>
          <a:xfrm>
            <a:off x="7892579" y="4914822"/>
            <a:ext cx="1483360" cy="7431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sz="10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NOTE: Blue </a:t>
            </a:r>
            <a:r>
              <a:rPr lang="en-IN" sz="1000" dirty="0" err="1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color</a:t>
            </a:r>
            <a:r>
              <a:rPr lang="en-IN" sz="10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 shows feature is not supporting churn and for red </a:t>
            </a:r>
            <a:r>
              <a:rPr lang="en-IN" sz="1000" dirty="0" err="1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color</a:t>
            </a:r>
            <a:r>
              <a:rPr lang="en-IN" sz="10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 vice-versa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1C58F5-2147-C1B7-A731-A87F5FDCDC01}"/>
              </a:ext>
            </a:extLst>
          </p:cNvPr>
          <p:cNvSpPr/>
          <p:nvPr/>
        </p:nvSpPr>
        <p:spPr>
          <a:xfrm>
            <a:off x="4192599" y="5792909"/>
            <a:ext cx="1903402" cy="97540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sz="12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Though device is old and </a:t>
            </a:r>
            <a:r>
              <a:rPr lang="en-IN" sz="1200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avg</a:t>
            </a:r>
            <a:r>
              <a:rPr lang="en-IN" sz="12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usage is reduced but customer long tenure with company shows customer will not churn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95ED4D-4F90-D8B7-FA5D-6172DC03686C}"/>
              </a:ext>
            </a:extLst>
          </p:cNvPr>
          <p:cNvSpPr/>
          <p:nvPr/>
        </p:nvSpPr>
        <p:spPr>
          <a:xfrm>
            <a:off x="11753907" y="6481736"/>
            <a:ext cx="36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13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2F82F54-FF96-C543-B62B-DEA757544B1E}"/>
              </a:ext>
            </a:extLst>
          </p:cNvPr>
          <p:cNvGrpSpPr/>
          <p:nvPr/>
        </p:nvGrpSpPr>
        <p:grpSpPr>
          <a:xfrm>
            <a:off x="20320" y="81280"/>
            <a:ext cx="12110720" cy="375920"/>
            <a:chOff x="436880" y="101600"/>
            <a:chExt cx="11684000" cy="589280"/>
          </a:xfrm>
        </p:grpSpPr>
        <p:sp>
          <p:nvSpPr>
            <p:cNvPr id="23" name="Arrow: Chevron 22">
              <a:extLst>
                <a:ext uri="{FF2B5EF4-FFF2-40B4-BE49-F238E27FC236}">
                  <a16:creationId xmlns:a16="http://schemas.microsoft.com/office/drawing/2014/main" id="{4D5B2ED5-81A7-4DD2-8E84-21D53CB8EA4F}"/>
                </a:ext>
              </a:extLst>
            </p:cNvPr>
            <p:cNvSpPr/>
            <p:nvPr/>
          </p:nvSpPr>
          <p:spPr>
            <a:xfrm>
              <a:off x="436880" y="101600"/>
              <a:ext cx="2783840" cy="589280"/>
            </a:xfrm>
            <a:prstGeom prst="chevron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tx1"/>
                  </a:solidFill>
                </a:rPr>
                <a:t>PLAN</a:t>
              </a:r>
            </a:p>
          </p:txBody>
        </p:sp>
        <p:sp>
          <p:nvSpPr>
            <p:cNvPr id="24" name="Arrow: Chevron 23">
              <a:extLst>
                <a:ext uri="{FF2B5EF4-FFF2-40B4-BE49-F238E27FC236}">
                  <a16:creationId xmlns:a16="http://schemas.microsoft.com/office/drawing/2014/main" id="{DD27617D-E9CA-4326-A8DC-FC759B5906F7}"/>
                </a:ext>
              </a:extLst>
            </p:cNvPr>
            <p:cNvSpPr/>
            <p:nvPr/>
          </p:nvSpPr>
          <p:spPr>
            <a:xfrm>
              <a:off x="3403600" y="101600"/>
              <a:ext cx="2783840" cy="589280"/>
            </a:xfrm>
            <a:prstGeom prst="chevron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tx1"/>
                  </a:solidFill>
                </a:rPr>
                <a:t>DO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25" name="Arrow: Chevron 24">
              <a:extLst>
                <a:ext uri="{FF2B5EF4-FFF2-40B4-BE49-F238E27FC236}">
                  <a16:creationId xmlns:a16="http://schemas.microsoft.com/office/drawing/2014/main" id="{A7B58A6C-A0A9-5726-80AD-6BB28A4CAEB0}"/>
                </a:ext>
              </a:extLst>
            </p:cNvPr>
            <p:cNvSpPr/>
            <p:nvPr/>
          </p:nvSpPr>
          <p:spPr>
            <a:xfrm>
              <a:off x="6370320" y="101600"/>
              <a:ext cx="2783840" cy="589280"/>
            </a:xfrm>
            <a:prstGeom prst="chevron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tx1"/>
                  </a:solidFill>
                </a:rPr>
                <a:t>CHECK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Arrow: Chevron 25">
              <a:extLst>
                <a:ext uri="{FF2B5EF4-FFF2-40B4-BE49-F238E27FC236}">
                  <a16:creationId xmlns:a16="http://schemas.microsoft.com/office/drawing/2014/main" id="{6BD16F5F-D5E0-F870-BBB9-3216DD18D3F3}"/>
                </a:ext>
              </a:extLst>
            </p:cNvPr>
            <p:cNvSpPr/>
            <p:nvPr/>
          </p:nvSpPr>
          <p:spPr>
            <a:xfrm>
              <a:off x="9337040" y="101600"/>
              <a:ext cx="2783840" cy="589280"/>
            </a:xfrm>
            <a:prstGeom prst="chevron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tx1"/>
                  </a:solidFill>
                </a:rPr>
                <a:t>ACT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B41A5DE4-4EC9-273B-4E9B-DADCFBBB2010}"/>
              </a:ext>
            </a:extLst>
          </p:cNvPr>
          <p:cNvSpPr/>
          <p:nvPr/>
        </p:nvSpPr>
        <p:spPr>
          <a:xfrm>
            <a:off x="11054080" y="6024880"/>
            <a:ext cx="1041400" cy="1827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CB769D1-2DDB-BDB2-6501-8627DF3C6C35}"/>
              </a:ext>
            </a:extLst>
          </p:cNvPr>
          <p:cNvSpPr/>
          <p:nvPr/>
        </p:nvSpPr>
        <p:spPr>
          <a:xfrm>
            <a:off x="7294880" y="2390908"/>
            <a:ext cx="1041400" cy="1827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13877E08-750E-95B4-0B25-50BE58E8381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729683" y="3625778"/>
            <a:ext cx="3799433" cy="1066799"/>
          </a:xfrm>
          <a:prstGeom prst="bentConnector3">
            <a:avLst>
              <a:gd name="adj1" fmla="val -27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CE1892D-922F-6AB5-56CA-72EC9D3A4456}"/>
              </a:ext>
            </a:extLst>
          </p:cNvPr>
          <p:cNvSpPr txBox="1"/>
          <p:nvPr/>
        </p:nvSpPr>
        <p:spPr>
          <a:xfrm>
            <a:off x="6170460" y="6103569"/>
            <a:ext cx="57403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dirty="0"/>
              <a:t>Key Message</a:t>
            </a:r>
          </a:p>
          <a:p>
            <a:pPr>
              <a:buNone/>
            </a:pPr>
            <a:r>
              <a:rPr lang="en-IN" sz="1200" dirty="0"/>
              <a:t>Different customers churn for different reasons; therefore retention strategies must be personalized.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E7561FA-102D-8120-5E69-B89F6A5BAB57}"/>
              </a:ext>
            </a:extLst>
          </p:cNvPr>
          <p:cNvCxnSpPr>
            <a:cxnSpLocks/>
          </p:cNvCxnSpPr>
          <p:nvPr/>
        </p:nvCxnSpPr>
        <p:spPr>
          <a:xfrm>
            <a:off x="4592318" y="558800"/>
            <a:ext cx="0" cy="50991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1987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CF80A76-41E1-6E32-FA29-1D54308DE7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253973"/>
              </p:ext>
            </p:extLst>
          </p:nvPr>
        </p:nvGraphicFramePr>
        <p:xfrm>
          <a:off x="5969000" y="4058917"/>
          <a:ext cx="6029961" cy="2311401"/>
        </p:xfrm>
        <a:graphic>
          <a:graphicData uri="http://schemas.openxmlformats.org/drawingml/2006/table">
            <a:tbl>
              <a:tblPr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</a:tblPr>
              <a:tblGrid>
                <a:gridCol w="2009987">
                  <a:extLst>
                    <a:ext uri="{9D8B030D-6E8A-4147-A177-3AD203B41FA5}">
                      <a16:colId xmlns:a16="http://schemas.microsoft.com/office/drawing/2014/main" val="2528002250"/>
                    </a:ext>
                  </a:extLst>
                </a:gridCol>
                <a:gridCol w="2404533">
                  <a:extLst>
                    <a:ext uri="{9D8B030D-6E8A-4147-A177-3AD203B41FA5}">
                      <a16:colId xmlns:a16="http://schemas.microsoft.com/office/drawing/2014/main" val="2115404484"/>
                    </a:ext>
                  </a:extLst>
                </a:gridCol>
                <a:gridCol w="1615441">
                  <a:extLst>
                    <a:ext uri="{9D8B030D-6E8A-4147-A177-3AD203B41FA5}">
                      <a16:colId xmlns:a16="http://schemas.microsoft.com/office/drawing/2014/main" val="2815129971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</a:rPr>
                        <a:t>Metric</a:t>
                      </a:r>
                    </a:p>
                  </a:txBody>
                  <a:tcPr marT="60960" marB="609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</a:rPr>
                        <a:t>Basis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</a:rPr>
                        <a:t>Annual Amount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8349606"/>
                  </a:ext>
                </a:extLst>
              </a:tr>
              <a:tr h="6604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>Total Annual Revenue</a:t>
                      </a:r>
                    </a:p>
                  </a:txBody>
                  <a:tcPr marT="60960" marB="609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>100k Users @ $58.71 ARPU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>$70,452,000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51458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Churn Leakage</a:t>
                      </a:r>
                    </a:p>
                  </a:txBody>
                  <a:tcPr marT="60960" marB="609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>49.6% Annual Churn Rate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$34,944,192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89934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Savings Potential</a:t>
                      </a:r>
                    </a:p>
                  </a:txBody>
                  <a:tcPr marT="60960" marB="609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>30% Reduction Efficacy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effectLst/>
                        </a:rPr>
                        <a:t>$10,483,258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188105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>Proposed Annual Price</a:t>
                      </a:r>
                    </a:p>
                  </a:txBody>
                  <a:tcPr marT="60960" marB="609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>25% Profit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>$2,620,814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497735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CBA9597-18C3-C972-3854-4A9B490F8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2480" y="3595192"/>
            <a:ext cx="3997960" cy="549275"/>
          </a:xfrm>
        </p:spPr>
        <p:txBody>
          <a:bodyPr>
            <a:normAutofit/>
          </a:bodyPr>
          <a:lstStyle/>
          <a:p>
            <a:r>
              <a:rPr lang="en-IN" sz="2400" b="1" dirty="0"/>
              <a:t>Business Impact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5CE117-9B3A-17CB-8FF0-259BF53EFC38}"/>
              </a:ext>
            </a:extLst>
          </p:cNvPr>
          <p:cNvSpPr txBox="1"/>
          <p:nvPr/>
        </p:nvSpPr>
        <p:spPr>
          <a:xfrm>
            <a:off x="193039" y="1867271"/>
            <a:ext cx="5527041" cy="45243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  <a:reflection blurRad="6350" stA="50000" endA="275" endPos="40000" dist="1016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IN" b="1" dirty="0"/>
              <a:t>Our Exclusive Combo Package just for you!</a:t>
            </a:r>
            <a:br>
              <a:rPr lang="en-IN" b="1" dirty="0"/>
            </a:br>
            <a:br>
              <a:rPr lang="en-IN" b="1" dirty="0"/>
            </a:br>
            <a:r>
              <a:rPr lang="en-IN" dirty="0"/>
              <a:t>1.</a:t>
            </a:r>
            <a:r>
              <a:rPr lang="en-IN" b="1" dirty="0"/>
              <a:t> </a:t>
            </a:r>
            <a:r>
              <a:rPr lang="en-IN" dirty="0"/>
              <a:t>Explainable AI-Powered Customer Retention &amp; Intervention System – $2.6 Million</a:t>
            </a:r>
            <a:endParaRPr lang="en-IN" b="1" dirty="0"/>
          </a:p>
          <a:p>
            <a:r>
              <a:rPr lang="en-IN" sz="2400" b="1" dirty="0"/>
              <a:t>+</a:t>
            </a:r>
          </a:p>
          <a:p>
            <a:r>
              <a:rPr lang="en-IN" dirty="0"/>
              <a:t>2.</a:t>
            </a:r>
            <a:r>
              <a:rPr lang="en-IN" b="1" dirty="0"/>
              <a:t> </a:t>
            </a:r>
            <a:r>
              <a:rPr lang="en-IN" dirty="0"/>
              <a:t>AI-powered NPS – $0.055 Million (for initial 3 months)</a:t>
            </a:r>
            <a:br>
              <a:rPr lang="en-IN" dirty="0"/>
            </a:br>
            <a:r>
              <a:rPr lang="en-IN" sz="2400" b="1" dirty="0"/>
              <a:t>+</a:t>
            </a:r>
          </a:p>
          <a:p>
            <a:r>
              <a:rPr lang="en-IN" dirty="0"/>
              <a:t>3. Real time AI support customer care – </a:t>
            </a:r>
            <a:r>
              <a:rPr lang="en-IN" dirty="0">
                <a:solidFill>
                  <a:prstClr val="black"/>
                </a:solidFill>
                <a:latin typeface="Aptos" panose="02110004020202020204"/>
              </a:rPr>
              <a:t>$0.045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Million (for initial 3 months)</a:t>
            </a:r>
            <a:br>
              <a:rPr lang="en-IN" sz="2400" b="1" dirty="0"/>
            </a:br>
            <a:endParaRPr lang="en-IN" sz="2400" b="1" dirty="0"/>
          </a:p>
          <a:p>
            <a:br>
              <a:rPr lang="en-IN" sz="2400" b="1" dirty="0"/>
            </a:br>
            <a:endParaRPr lang="en-IN" sz="2400" b="1" dirty="0"/>
          </a:p>
          <a:p>
            <a:r>
              <a:rPr lang="en-IN" sz="2400" dirty="0"/>
              <a:t>Buy together and </a:t>
            </a:r>
            <a:r>
              <a:rPr lang="en-IN" sz="2400" dirty="0">
                <a:ln>
                  <a:solidFill>
                    <a:srgbClr val="92D050"/>
                  </a:solidFill>
                </a:ln>
                <a:solidFill>
                  <a:srgbClr val="92D050"/>
                </a:solidFill>
                <a:latin typeface="Bodoni MT Black" panose="02070A03080606020203" pitchFamily="18" charset="0"/>
              </a:rPr>
              <a:t>SAVEEE</a:t>
            </a:r>
            <a:r>
              <a:rPr lang="en-IN" sz="2400" dirty="0"/>
              <a:t> more!!!</a:t>
            </a: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463FD5-0103-86FE-9E4A-B3212593C5C7}"/>
              </a:ext>
            </a:extLst>
          </p:cNvPr>
          <p:cNvSpPr txBox="1"/>
          <p:nvPr/>
        </p:nvSpPr>
        <p:spPr>
          <a:xfrm>
            <a:off x="187960" y="116701"/>
            <a:ext cx="11689080" cy="58477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QUOTATION</a:t>
            </a:r>
            <a:endParaRPr lang="en-IN" sz="24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90646B-2ED0-A568-D531-F4E87223E678}"/>
              </a:ext>
            </a:extLst>
          </p:cNvPr>
          <p:cNvSpPr txBox="1"/>
          <p:nvPr/>
        </p:nvSpPr>
        <p:spPr>
          <a:xfrm>
            <a:off x="187960" y="898643"/>
            <a:ext cx="5532120" cy="707886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IN" sz="2000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Explainable AI-Powered Customer Retention &amp; Intervention System – </a:t>
            </a:r>
            <a:r>
              <a:rPr lang="en-IN" sz="2000" dirty="0">
                <a:ln w="0">
                  <a:noFill/>
                </a:ln>
              </a:rPr>
              <a:t>$2.6 Million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6D79FD-3E1F-B405-6EBA-DE771A4DF2BF}"/>
              </a:ext>
            </a:extLst>
          </p:cNvPr>
          <p:cNvSpPr txBox="1"/>
          <p:nvPr/>
        </p:nvSpPr>
        <p:spPr>
          <a:xfrm>
            <a:off x="5969000" y="898643"/>
            <a:ext cx="6035040" cy="26776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marL="182563" indent="-182563" algn="just"/>
            <a:r>
              <a:rPr lang="en-IN" sz="2000" b="1" dirty="0"/>
              <a:t>Consulting Contract</a:t>
            </a:r>
          </a:p>
          <a:p>
            <a:pPr marL="263525" indent="-263525" algn="just"/>
            <a:r>
              <a:rPr lang="en-IN" dirty="0"/>
              <a:t>1. Initial help for system onboarding and training is FREE.</a:t>
            </a:r>
          </a:p>
          <a:p>
            <a:pPr marL="263525" indent="-263525" algn="just"/>
            <a:r>
              <a:rPr lang="en-IN" dirty="0"/>
              <a:t>2. </a:t>
            </a:r>
            <a:r>
              <a:rPr lang="en-IN" b="1" dirty="0"/>
              <a:t>AI-powered Net Promoter Score </a:t>
            </a:r>
            <a:r>
              <a:rPr lang="en-IN" dirty="0"/>
              <a:t>(NPS) which will help to get customer feedback and can drastically reduce churn - $75,000 (valid for service of 3 months only).</a:t>
            </a:r>
          </a:p>
          <a:p>
            <a:pPr marL="263525" indent="-263525" algn="just"/>
            <a:r>
              <a:rPr lang="en-IN" dirty="0"/>
              <a:t>3. </a:t>
            </a:r>
            <a:r>
              <a:rPr lang="en-IN" b="1" dirty="0"/>
              <a:t>Real time AI support customer care</a:t>
            </a:r>
            <a:r>
              <a:rPr lang="en-IN" dirty="0"/>
              <a:t>, it is useful for customer care team for providing personalized solution as per customer ID and also reduces interaction time  - $55,000 (valid for service of 3 months only).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6A2BFB-3BF4-2C65-4907-47DBE71FE767}"/>
              </a:ext>
            </a:extLst>
          </p:cNvPr>
          <p:cNvSpPr txBox="1"/>
          <p:nvPr/>
        </p:nvSpPr>
        <p:spPr>
          <a:xfrm>
            <a:off x="264160" y="5099288"/>
            <a:ext cx="5374640" cy="646331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IN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All for just $2.7 Million!</a:t>
            </a:r>
            <a:endParaRPr lang="en-IN" sz="36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F07045-BC8B-5EB9-31DD-B860465761D7}"/>
              </a:ext>
            </a:extLst>
          </p:cNvPr>
          <p:cNvSpPr/>
          <p:nvPr/>
        </p:nvSpPr>
        <p:spPr>
          <a:xfrm>
            <a:off x="11753907" y="6481736"/>
            <a:ext cx="36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B6DD78-FEB6-A032-22BF-FCBC96DA6CFA}"/>
              </a:ext>
            </a:extLst>
          </p:cNvPr>
          <p:cNvSpPr txBox="1"/>
          <p:nvPr/>
        </p:nvSpPr>
        <p:spPr>
          <a:xfrm>
            <a:off x="5969000" y="6464300"/>
            <a:ext cx="541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Assumption: Taking value from Record.csv, ARPU = Annual Revenue Per User</a:t>
            </a:r>
          </a:p>
        </p:txBody>
      </p:sp>
    </p:spTree>
    <p:extLst>
      <p:ext uri="{BB962C8B-B14F-4D97-AF65-F5344CB8AC3E}">
        <p14:creationId xmlns:p14="http://schemas.microsoft.com/office/powerpoint/2010/main" val="3802849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00724-11DB-9818-911E-8B19FC533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7097D4-8E8F-79B7-4CE1-F886F9218147}"/>
              </a:ext>
            </a:extLst>
          </p:cNvPr>
          <p:cNvSpPr txBox="1"/>
          <p:nvPr/>
        </p:nvSpPr>
        <p:spPr>
          <a:xfrm>
            <a:off x="212147" y="106095"/>
            <a:ext cx="1154176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effectLst/>
                <a:latin typeface="Google Sans"/>
              </a:rPr>
              <a:t>References of case study, tech blogs, images, icon etc.</a:t>
            </a:r>
          </a:p>
          <a:p>
            <a:pPr>
              <a:buNone/>
            </a:pPr>
            <a:r>
              <a:rPr lang="en-IN" dirty="0">
                <a:effectLst/>
                <a:latin typeface="Google Sans Text"/>
                <a:hlinkClick r:id="rId2"/>
              </a:rPr>
              <a:t>https://blog.protiviti.com/2026/01/13/2026-and-beyond-why-telcos-must-reinvent-or-be-replaced/</a:t>
            </a:r>
            <a:endParaRPr lang="en-IN" dirty="0">
              <a:effectLst/>
              <a:latin typeface="Google Sans Text"/>
            </a:endParaRPr>
          </a:p>
          <a:p>
            <a:r>
              <a:rPr lang="en-IN" dirty="0">
                <a:latin typeface="Google Sans Text"/>
                <a:hlinkClick r:id="rId3"/>
              </a:rPr>
              <a:t>https://www.deloitte.com/us/en/insights/industry/technology/technology-media-telecom</a:t>
            </a:r>
            <a:r>
              <a:rPr lang="en-IN" dirty="0">
                <a:latin typeface="Google Sans Text"/>
              </a:rPr>
              <a:t>-</a:t>
            </a:r>
            <a:r>
              <a:rPr lang="en-IN" dirty="0">
                <a:effectLst/>
                <a:latin typeface="Google Sans Text"/>
              </a:rPr>
              <a:t>outlooks/telecommunications-industry-outlook.html</a:t>
            </a:r>
            <a:endParaRPr lang="en-IN" dirty="0">
              <a:latin typeface="Google Sans Text"/>
            </a:endParaRPr>
          </a:p>
          <a:p>
            <a:r>
              <a:rPr lang="en-IN" dirty="0">
                <a:effectLst/>
                <a:latin typeface="Google Sans Text"/>
                <a:hlinkClick r:id="rId4"/>
              </a:rPr>
              <a:t>https://htec.com/insights/blogs/key-trends-shaping-the-telecommunications-industry-in-2026/</a:t>
            </a:r>
            <a:endParaRPr lang="en-IN" dirty="0">
              <a:effectLst/>
              <a:latin typeface="Google Sans Text"/>
            </a:endParaRPr>
          </a:p>
          <a:p>
            <a:r>
              <a:rPr lang="en-IN" dirty="0">
                <a:effectLst/>
                <a:latin typeface="Google Sans Text"/>
                <a:hlinkClick r:id="rId5"/>
              </a:rPr>
              <a:t>https://www.ey.com/en_gl/insights/telecommunications/how-can-telcos-navigate-a-world-of-evolving-risks</a:t>
            </a:r>
            <a:endParaRPr lang="en-IN" dirty="0">
              <a:effectLst/>
              <a:latin typeface="Google Sans Text"/>
            </a:endParaRPr>
          </a:p>
          <a:p>
            <a:r>
              <a:rPr lang="en-IN" dirty="0">
                <a:hlinkClick r:id="rId6"/>
              </a:rPr>
              <a:t>https://www.exchange4media.com/advertising-news/telecom-tussle-airtel-vi-spar-over-priority-access-advertising-155393.html</a:t>
            </a:r>
            <a:br>
              <a:rPr lang="en-IN" dirty="0"/>
            </a:br>
            <a:r>
              <a:rPr lang="en-IN" dirty="0">
                <a:hlinkClick r:id="rId7"/>
              </a:rPr>
              <a:t>https://about.att.com/story/2026/1q-earnings.html</a:t>
            </a:r>
            <a:br>
              <a:rPr lang="en-IN" dirty="0"/>
            </a:br>
            <a:r>
              <a:rPr lang="en-IN" dirty="0">
                <a:hlinkClick r:id="rId8"/>
              </a:rPr>
              <a:t>https://timesofindia.indiatimes.com/business/india-business/telecom-earnings-preview-jio-may-lead-in-revenue-growth-airtel-likely-to-top-arpu-number-vi-steadies-user-base/articleshow/122254903.cms</a:t>
            </a:r>
            <a:br>
              <a:rPr lang="en-IN" dirty="0"/>
            </a:br>
            <a:r>
              <a:rPr lang="en-IN" b="1" dirty="0">
                <a:hlinkClick r:id="rId9"/>
              </a:rPr>
              <a:t>https://customergauge.com/blog/reducing-customer-churn-in-telecommunications</a:t>
            </a:r>
            <a:endParaRPr lang="en-IN" b="1" dirty="0"/>
          </a:p>
          <a:p>
            <a:r>
              <a:rPr lang="en-IN" b="1" dirty="0">
                <a:hlinkClick r:id="rId10"/>
              </a:rPr>
              <a:t>https://www.verizon.com/business/resources/articles/s/how-to-integrate-ai-into-your-customer-retention-strategies/</a:t>
            </a:r>
            <a:endParaRPr lang="en-IN" b="1" dirty="0"/>
          </a:p>
          <a:p>
            <a:r>
              <a:rPr lang="en-IN" b="1" dirty="0">
                <a:hlinkClick r:id="rId11"/>
              </a:rPr>
              <a:t>https://chiefaiofficer.com/the-t-mobile-ai-strategy-that-increased-customer-renewals-30/</a:t>
            </a:r>
            <a:endParaRPr lang="en-IN" b="1" dirty="0"/>
          </a:p>
          <a:p>
            <a:r>
              <a:rPr lang="en-IN" b="1" dirty="0"/>
              <a:t>https://www.geeksforgeeks.org/machine-learning/catboost-ml/</a:t>
            </a:r>
            <a:endParaRPr lang="en-IN" dirty="0">
              <a:hlinkClick r:id="rId12"/>
            </a:endParaRPr>
          </a:p>
          <a:p>
            <a:r>
              <a:rPr lang="en-IN" dirty="0">
                <a:hlinkClick r:id="rId12"/>
              </a:rPr>
              <a:t>https://www.vectorstock.com/royalty-free-vectors/problem-statement-icon-vectors</a:t>
            </a:r>
            <a:endParaRPr lang="en-IN" dirty="0"/>
          </a:p>
          <a:p>
            <a:r>
              <a:rPr lang="en-IN" dirty="0">
                <a:hlinkClick r:id="rId13"/>
              </a:rPr>
              <a:t>https://www.flaticon.com/free-icon/solution_9782496</a:t>
            </a:r>
            <a:endParaRPr lang="en-IN" dirty="0"/>
          </a:p>
          <a:p>
            <a:r>
              <a:rPr lang="en-IN" dirty="0">
                <a:effectLst/>
                <a:latin typeface="Google Sans Text"/>
                <a:hlinkClick r:id="rId14"/>
              </a:rPr>
              <a:t>https://gemini.google.com/share/bb1cfaa9b1f5</a:t>
            </a:r>
            <a:endParaRPr lang="en-IN" dirty="0">
              <a:effectLst/>
              <a:latin typeface="Google Sans Text"/>
            </a:endParaRPr>
          </a:p>
          <a:p>
            <a:r>
              <a:rPr lang="en-IN" dirty="0">
                <a:effectLst/>
                <a:latin typeface="Google Sans Text"/>
                <a:hlinkClick r:id="rId15"/>
              </a:rPr>
              <a:t>https://chatgpt.com/share/6a3493f1-7e8c-83e8-a793-81b9e43059fd</a:t>
            </a:r>
            <a:endParaRPr lang="en-IN" dirty="0">
              <a:effectLst/>
              <a:latin typeface="Google Sans Text"/>
            </a:endParaRPr>
          </a:p>
          <a:p>
            <a:r>
              <a:rPr lang="en-IN" dirty="0">
                <a:latin typeface="Google Sans Text"/>
              </a:rPr>
              <a:t>Some of the flowchart are made by google </a:t>
            </a:r>
            <a:r>
              <a:rPr lang="en-IN" dirty="0" err="1">
                <a:latin typeface="Google Sans Text"/>
              </a:rPr>
              <a:t>gemini</a:t>
            </a:r>
            <a:r>
              <a:rPr lang="en-IN" dirty="0">
                <a:latin typeface="Google Sans Text"/>
              </a:rPr>
              <a:t> </a:t>
            </a:r>
            <a:r>
              <a:rPr lang="en-IN" dirty="0" err="1">
                <a:latin typeface="Google Sans Text"/>
              </a:rPr>
              <a:t>nanobanana</a:t>
            </a:r>
            <a:r>
              <a:rPr lang="en-IN" dirty="0">
                <a:latin typeface="Google Sans Text"/>
              </a:rPr>
              <a:t> (Link not available as it is not available in chat history)</a:t>
            </a:r>
            <a:endParaRPr lang="en-IN" dirty="0">
              <a:effectLst/>
              <a:latin typeface="Google Sans Text"/>
            </a:endParaRPr>
          </a:p>
          <a:p>
            <a:r>
              <a:rPr lang="en-IN" dirty="0">
                <a:effectLst/>
                <a:latin typeface="Google Sans Text"/>
              </a:rPr>
              <a:t>Company Logo for </a:t>
            </a:r>
            <a:r>
              <a:rPr lang="en-IN" dirty="0" err="1">
                <a:effectLst/>
                <a:latin typeface="Google Sans Text"/>
              </a:rPr>
              <a:t>AT&amp;T,Verizon,Jio,Airtel,Tmobile</a:t>
            </a:r>
            <a:r>
              <a:rPr lang="en-IN" dirty="0">
                <a:effectLst/>
                <a:latin typeface="Google Sans Text"/>
              </a:rPr>
              <a:t> are taken from their official website.</a:t>
            </a:r>
          </a:p>
          <a:p>
            <a:r>
              <a:rPr lang="en-IN" dirty="0">
                <a:latin typeface="Google Sans Text"/>
              </a:rPr>
              <a:t>Icon used are opensource.</a:t>
            </a:r>
            <a:r>
              <a:rPr lang="en-IN" dirty="0">
                <a:effectLst/>
                <a:latin typeface="Google Sans Text"/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778525-0AA9-0F5D-5DD8-D64CD9BC9DE3}"/>
              </a:ext>
            </a:extLst>
          </p:cNvPr>
          <p:cNvSpPr/>
          <p:nvPr/>
        </p:nvSpPr>
        <p:spPr>
          <a:xfrm>
            <a:off x="11753907" y="6481736"/>
            <a:ext cx="36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170568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5291</TotalTime>
  <Words>2240</Words>
  <Application>Microsoft Office PowerPoint</Application>
  <PresentationFormat>Widescreen</PresentationFormat>
  <Paragraphs>445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Aptos Display</vt:lpstr>
      <vt:lpstr>Arial</vt:lpstr>
      <vt:lpstr>Bodoni MT Black</vt:lpstr>
      <vt:lpstr>Courier New</vt:lpstr>
      <vt:lpstr>Google Sans</vt:lpstr>
      <vt:lpstr>Google Sans Text</vt:lpstr>
      <vt:lpstr>Office Theme</vt:lpstr>
      <vt:lpstr>GCI World 2026 Final Assignment Name: Neel Kapadi IIT Guwahati, India</vt:lpstr>
      <vt:lpstr>Table of Contents</vt:lpstr>
      <vt:lpstr>Company A Business Problem</vt:lpstr>
      <vt:lpstr>Telecom Industry Challenges</vt:lpstr>
      <vt:lpstr>Implementation of PDCA cycle for Reliable Business Solutions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Business Impact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NEEL MANISHKUMAR KAPADI</dc:creator>
  <cp:lastModifiedBy>NEEL MANISHKUMAR KAPADI</cp:lastModifiedBy>
  <cp:revision>47</cp:revision>
  <dcterms:created xsi:type="dcterms:W3CDTF">2026-06-15T10:35:49Z</dcterms:created>
  <dcterms:modified xsi:type="dcterms:W3CDTF">2026-06-19T03:03:57Z</dcterms:modified>
</cp:coreProperties>
</file>